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12.jpg" ContentType="image/jpeg"/>
  <Override PartName="/ppt/notesSlides/notesSlide15.xml" ContentType="application/vnd.openxmlformats-officedocument.presentationml.notesSlide+xml"/>
  <Override PartName="/ppt/media/image17.jpg" ContentType="image/jpeg"/>
  <Override PartName="/ppt/media/image18.jpg" ContentType="image/jpeg"/>
  <Override PartName="/ppt/media/image20.jpg" ContentType="image/jpeg"/>
  <Override PartName="/ppt/media/image25.jpg" ContentType="image/jpeg"/>
  <Override PartName="/ppt/media/image30.jpg" ContentType="image/jpeg"/>
  <Override PartName="/ppt/media/image34.jpg" ContentType="image/jpeg"/>
  <Override PartName="/ppt/media/image39.jpg" ContentType="image/jpeg"/>
  <Override PartName="/ppt/media/image40.jpg" ContentType="image/jpeg"/>
  <Override PartName="/ppt/media/image45.jpg" ContentType="image/jpeg"/>
  <Override PartName="/ppt/media/image47.jpg" ContentType="image/jpeg"/>
  <Override PartName="/ppt/notesSlides/notesSlide16.xml" ContentType="application/vnd.openxmlformats-officedocument.presentationml.notesSlide+xml"/>
  <Override PartName="/ppt/media/image54.jpg" ContentType="image/jpeg"/>
  <Override PartName="/ppt/media/image55.jpg" ContentType="image/jpeg"/>
  <Override PartName="/ppt/media/image62.jpg" ContentType="image/jpeg"/>
  <Override PartName="/ppt/media/image64.jpg" ContentType="image/jpeg"/>
  <Override PartName="/ppt/media/image69.jpg" ContentType="image/jpeg"/>
  <Override PartName="/ppt/media/image71.jpg" ContentType="image/jpeg"/>
  <Override PartName="/ppt/media/image73.jpg" ContentType="image/jpeg"/>
  <Override PartName="/ppt/media/image77.jpg" ContentType="image/jpeg"/>
  <Override PartName="/ppt/media/image81.jpg" ContentType="image/jpeg"/>
  <Override PartName="/ppt/media/image83.jpg" ContentType="image/jpeg"/>
  <Override PartName="/ppt/media/image89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코스 소개" id="{A2022D12-FB66-4613-BA7A-A6E9D1DB3FE0}">
          <p14:sldIdLst>
            <p14:sldId id="256"/>
            <p14:sldId id="257"/>
          </p14:sldIdLst>
        </p14:section>
        <p14:section name="01-에이전트 소개" id="{A667E038-886B-4AF0-9D09-455B4EF82A7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02-Copilot Studio 기초" id="{3305D98B-693D-4ABC-A70F-A72F25C2C78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03-선언형 에이전트 배포" id="{D7C25BF5-BDA7-488B-ACCB-8B85F55F622D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04-솔루션 만들기" id="{BDC8B846-A766-45F7-820A-9DC6DD3EDD57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05-사전 구축 에이전트 활용" id="{A06B2E68-C8BC-4B59-A57C-58E4242D832A}">
          <p14:sldIdLst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06-자연어로 만드는 커스텀 에이전트" id="{E73AAF81-BA00-4C7D-B743-CD900993C225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07-트리거와 노드로 토픽 만들기" id="{7C607455-8893-413C-AD07-5109223A7C1D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08-적응형 카드로 대화 강화" id="{35664256-62E6-4867-85DC-17E5ED650DDC}">
          <p14:sldIdLst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09-에이전트 플로우 추가" id="{EBFF5A2A-3732-40A4-B6A7-3536D034612D}">
          <p14:sldIdLst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10-이벤트 트리거 추가" id="{D6638B01-0854-4525-BFDA-074DA76D9BF9}">
          <p14:sldIdLst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11-에이전트 게시하기" id="{82662547-20C7-42AC-A9BD-8CE0271DB782}">
          <p14:sldIdLst>
            <p14:sldId id="348"/>
            <p14:sldId id="349"/>
            <p14:sldId id="350"/>
            <p14:sldId id="351"/>
            <p14:sldId id="352"/>
            <p14:sldId id="353"/>
            <p14:sldId id="354"/>
          </p14:sldIdLst>
        </p14:section>
        <p14:section name="12-라이선스와 비용 이해" id="{B7B91CE6-E9C7-4F3C-A928-99D95A13E80A}">
          <p14:sldIdLst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  <p14:section name="과정 마무리" id="{9B024575-4327-4615-9316-BCB34C21A0BE}">
          <p14:sldIdLst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86" autoAdjust="0"/>
    <p:restoredTop sz="70367" autoAdjust="0"/>
  </p:normalViewPr>
  <p:slideViewPr>
    <p:cSldViewPr snapToGrid="0">
      <p:cViewPr varScale="1">
        <p:scale>
          <a:sx n="59" d="100"/>
          <a:sy n="59" d="100"/>
        </p:scale>
        <p:origin x="55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" userId="ee8e7794-d418-4050-a45e-67762d108ce3" providerId="ADAL" clId="{A763F83F-80D6-4023-B2C2-C60A76F728A0}"/>
    <pc:docChg chg="custSel modSld addMainMaster delMainMaster modMainMaster modNotesMaster">
      <pc:chgData name="Jay" userId="ee8e7794-d418-4050-a45e-67762d108ce3" providerId="ADAL" clId="{A763F83F-80D6-4023-B2C2-C60A76F728A0}" dt="2026-08-23T12:48:09.703" v="4" actId="26606"/>
      <pc:docMkLst>
        <pc:docMk/>
      </pc:docMkLst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5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6"/>
            <ac:spMk id="11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5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5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7"/>
            <ac:spMk id="68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5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8"/>
            <ac:spMk id="9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5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59"/>
            <ac:spMk id="35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0"/>
            <ac:spMk id="26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1"/>
            <ac:spMk id="21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2"/>
            <ac:spMk id="23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3"/>
            <ac:spMk id="27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4"/>
            <ac:spMk id="36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5"/>
            <ac:spMk id="18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6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6"/>
            <ac:spMk id="10" creationId="{00000000-0000-0000-0000-000000000000}"/>
          </ac:spMkLst>
        </pc:spChg>
        <pc:graphicFrameChg chg="mod modGraphic">
          <ac:chgData name="Jay" userId="ee8e7794-d418-4050-a45e-67762d108ce3" providerId="ADAL" clId="{A763F83F-80D6-4023-B2C2-C60A76F728A0}" dt="2026-08-23T12:46:29.986" v="2" actId="26606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7"/>
            <ac:spMk id="27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8"/>
            <ac:spMk id="31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6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69"/>
            <ac:spMk id="2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1"/>
            <ac:spMk id="2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2"/>
            <ac:spMk id="26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27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3"/>
            <ac:spMk id="2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4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5"/>
            <ac:spMk id="2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6"/>
            <ac:spMk id="2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7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8"/>
            <ac:spMk id="2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7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79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0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1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2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3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3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3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3"/>
            <ac:spMk id="1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4"/>
            <ac:spMk id="3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5"/>
            <ac:spMk id="2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6"/>
            <ac:spMk id="11" creationId="{00000000-0000-0000-0000-000000000000}"/>
          </ac:spMkLst>
        </pc:spChg>
        <pc:graphicFrameChg chg="mod modGraphic">
          <ac:chgData name="Jay" userId="ee8e7794-d418-4050-a45e-67762d108ce3" providerId="ADAL" clId="{A763F83F-80D6-4023-B2C2-C60A76F728A0}" dt="2026-08-23T12:46:06.821" v="1" actId="26606"/>
          <ac:graphicFrameMkLst>
            <pc:docMk/>
            <pc:sldMk cId="0" sldId="286"/>
            <ac:graphicFrameMk id="7" creationId="{00000000-0000-0000-0000-000000000000}"/>
          </ac:graphicFrameMkLst>
        </pc:graphicFrame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7"/>
            <ac:spMk id="2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8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8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89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0"/>
            <ac:spMk id="2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1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2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3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4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5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6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7"/>
            <ac:spMk id="3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8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29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299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0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1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2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3"/>
            <ac:spMk id="3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4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5"/>
            <ac:spMk id="2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6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7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8"/>
            <ac:spMk id="3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0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09"/>
            <ac:spMk id="2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0"/>
            <ac:spMk id="3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1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2"/>
            <ac:spMk id="2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3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3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4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4"/>
            <ac:spMk id="4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5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6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7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8"/>
            <ac:spMk id="3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1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19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0"/>
            <ac:spMk id="37" creationId="{00000000-0000-0000-0000-000000000000}"/>
          </ac:spMkLst>
        </pc:spChg>
      </pc:sldChg>
      <pc:sldChg chg="modSp mod modNotes">
        <pc:chgData name="Jay" userId="ee8e7794-d418-4050-a45e-67762d108ce3" providerId="ADAL" clId="{A763F83F-80D6-4023-B2C2-C60A76F728A0}" dt="2026-08-23T12:48:09.703" v="4" actId="26606"/>
        <pc:sldMkLst>
          <pc:docMk/>
          <pc:sldMk cId="0" sldId="32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1"/>
            <ac:spMk id="2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2"/>
            <ac:spMk id="34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4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4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3"/>
            <ac:spMk id="4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4"/>
            <ac:spMk id="4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5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6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7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8"/>
            <ac:spMk id="2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2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29"/>
            <ac:spMk id="2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0"/>
            <ac:spMk id="34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1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2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3"/>
            <ac:spMk id="3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4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5"/>
            <ac:spMk id="2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6"/>
            <ac:spMk id="34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7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3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3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4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8"/>
            <ac:spMk id="46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3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39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0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1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2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3"/>
            <ac:spMk id="3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4"/>
            <ac:spMk id="3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4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5"/>
            <ac:spMk id="4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6"/>
            <ac:spMk id="2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3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7"/>
            <ac:spMk id="37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8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4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49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0"/>
            <ac:spMk id="3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1"/>
            <ac:spMk id="30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4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2"/>
            <ac:spMk id="43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3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3"/>
            <ac:spMk id="2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4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4"/>
            <ac:spMk id="3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5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5"/>
            <ac:spMk id="1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6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6"/>
            <ac:spMk id="32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7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1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2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2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7"/>
            <ac:spMk id="35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8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8"/>
            <ac:spMk id="29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59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2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3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3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59"/>
            <ac:spMk id="3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60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0"/>
            <ac:spMk id="31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61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1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3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3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1"/>
            <ac:spMk id="38" creationId="{00000000-0000-0000-0000-000000000000}"/>
          </ac:spMkLst>
        </pc:spChg>
      </pc:sldChg>
      <pc:sldChg chg="modSp mod">
        <pc:chgData name="Jay" userId="ee8e7794-d418-4050-a45e-67762d108ce3" providerId="ADAL" clId="{A763F83F-80D6-4023-B2C2-C60A76F728A0}" dt="2026-08-23T12:46:06.821" v="1" actId="26606"/>
        <pc:sldMkLst>
          <pc:docMk/>
          <pc:sldMk cId="0" sldId="362"/>
        </pc:sldMkLst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2:46:06.821" v="1" actId="26606"/>
          <ac:spMkLst>
            <pc:docMk/>
            <pc:sldMk cId="0" sldId="362"/>
            <ac:spMk id="18" creationId="{00000000-0000-0000-0000-000000000000}"/>
          </ac:spMkLst>
        </pc:spChg>
      </pc:sldChg>
      <pc:sldMasterChg chg="add modSldLayout sldLayoutOrd">
        <pc:chgData name="Jay" userId="ee8e7794-d418-4050-a45e-67762d108ce3" providerId="ADAL" clId="{A763F83F-80D6-4023-B2C2-C60A76F728A0}" dt="2026-08-23T12:48:09.703" v="4" actId="26606"/>
        <pc:sldMasterMkLst>
          <pc:docMk/>
          <pc:sldMasterMk cId="0" sldId="2147483648"/>
        </pc:sldMasterMkLst>
        <pc:sldLayoutChg chg="mod ord">
          <pc:chgData name="Jay" userId="ee8e7794-d418-4050-a45e-67762d108ce3" providerId="ADAL" clId="{A763F83F-80D6-4023-B2C2-C60A76F728A0}" dt="2026-08-23T12:48:09.703" v="4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del replId modSldLayout sldLayoutOrd">
        <pc:chgData name="Jay" userId="ee8e7794-d418-4050-a45e-67762d108ce3" providerId="ADAL" clId="{A763F83F-80D6-4023-B2C2-C60A76F728A0}" dt="2026-08-23T12:48:09.703" v="4" actId="26606"/>
        <pc:sldMasterMkLst>
          <pc:docMk/>
          <pc:sldMasterMk cId="0" sldId="2147483650"/>
        </pc:sldMasterMkLst>
        <pc:sldLayoutChg chg="mod ord">
          <pc:chgData name="Jay" userId="ee8e7794-d418-4050-a45e-67762d108ce3" providerId="ADAL" clId="{A763F83F-80D6-4023-B2C2-C60A76F728A0}" dt="2026-08-23T12:46:06.821" v="1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sldLayoutOrd">
        <pc:chgData name="Jay" userId="ee8e7794-d418-4050-a45e-67762d108ce3" providerId="ADAL" clId="{A763F83F-80D6-4023-B2C2-C60A76F728A0}" dt="2026-08-23T12:46:06.821" v="1" actId="26606"/>
        <pc:sldMasterMkLst>
          <pc:docMk/>
          <pc:sldMasterMk cId="0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67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991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296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Segoe U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Segoe U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Segoe U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Segoe U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Segoe U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Segoe U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Segoe U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Segoe U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Segoe U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jpg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63.png"/><Relationship Id="rId4" Type="http://schemas.openxmlformats.org/officeDocument/2006/relationships/image" Target="../media/image62.jp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87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gen-assets/a336188f-224e-41eb-a1a2-91415c0521b9/30c01dd3d76c469d.jpg"/>
          <p:cNvPicPr>
            <a:picLocks noChangeAspect="1"/>
          </p:cNvPicPr>
          <p:nvPr/>
        </p:nvPicPr>
        <p:blipFill>
          <a:blip r:embed="rId3"/>
          <a:srcRect l="23736" r="23736"/>
          <a:stretch>
            <a:fillRect/>
          </a:stretch>
        </p:blipFill>
        <p:spPr>
          <a:xfrm>
            <a:off x="5760720" y="0"/>
            <a:ext cx="6400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3D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035040" y="0"/>
            <a:ext cx="822960" cy="685800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2834640" cy="384048"/>
          </a:xfrm>
          <a:prstGeom prst="roundRect">
            <a:avLst>
              <a:gd name="adj" fmla="val 4761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22960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 · TOPIC-BASED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Academy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6E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 · Standard 과정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토픽, 트리거, 노드와 에이전트 흐름으로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예측 가능한 대화 로직을 구축합니다.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미션 01 · 에이전트 소개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5595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 · LLM · RAG · 에이전트 유형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 과정 · 12단계 실습 흐름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1755648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7556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과정 설정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개발 환경 · 평가판 · SharePoint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1572768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E8F1FB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43984" y="1755648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43984" y="17556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소개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 · LLM · RAG · 에이전트 유형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10144" y="1572768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74736" y="1755648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74736" y="17556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51392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기초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51392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 · 기술 · 자율성 핵심 요소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13232" y="2926080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" y="29260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89888" y="28895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선언형 에이전트 배포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89888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Copilot에 나만의 에이전트 추가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79392" y="274320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443984" y="2926080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443984" y="29260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28895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솔루션 만들기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재사용 가능한 솔루션으로 패키징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10144" y="274320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174736" y="2926080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29260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51392" y="28895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사전 구축 에이전트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51392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템플릿 기반으로 빠르게 시작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913632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3232" y="409651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13232" y="409651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89888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AI·자연어로 커스텀 제작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89888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 소스 기반 그라운딩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79392" y="3913632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443984" y="409651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443984" y="409651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20640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트리거와 노드 · 토픽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2064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지정 질문/응답 경로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10144" y="3913632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174736" y="409651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174736" y="409651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851392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Card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51392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Fx · SharePoint 연동 카드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084064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13232" y="5266944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13232" y="526694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89888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흐름 추가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389888" y="5559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카드 입력으로 백엔드 플로우 실행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79392" y="5084064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443984" y="5266944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443984" y="526694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1206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이벤트 트리거 · 자율성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120640" y="5559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이벤트 기반 자율 동작 설정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10144" y="5084064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8174736" y="5266944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DCE9F7"/>
          </a:solidFill>
          <a:ln w="12700">
            <a:solidFill>
              <a:srgbClr val="DCE9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8174736" y="526694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851392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게시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851392" y="5559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· M365 Copilot 배포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＋ 미션 12 · 라이선스 이해하기 — Copilot Studio 라이선스와 과금 방식 이해하기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6E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소개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AI, LLM, RAG 그리고 에이전트 유형의 기초를 이해합니다.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57200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163E6B"/>
          </a:solidFill>
          <a:ln w="12700">
            <a:solidFill>
              <a:srgbClr val="3E6C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난이도 ★☆☆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457200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163E6B"/>
          </a:solidFill>
          <a:ln w="12700">
            <a:solidFill>
              <a:srgbClr val="3E6C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8328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소요 30분</a:t>
            </a:r>
            <a:endParaRPr lang="en-US" sz="1200" dirty="0"/>
          </a:p>
        </p:txBody>
      </p:sp>
      <p:pic>
        <p:nvPicPr>
          <p:cNvPr id="10" name="Image 0" descr="/tmp/htmlgen-assets/a336188f-224e-41eb-a1a2-91415c0521b9/30c01dd3d76c469d.jpg"/>
          <p:cNvPicPr>
            <a:picLocks noChangeAspect="1"/>
          </p:cNvPicPr>
          <p:nvPr/>
        </p:nvPicPr>
        <p:blipFill>
          <a:blip r:embed="rId3"/>
          <a:srcRect l="21860" r="21860"/>
          <a:stretch>
            <a:fillRect/>
          </a:stretch>
        </p:blipFill>
        <p:spPr>
          <a:xfrm>
            <a:off x="8229600" y="173736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미션 브리핑 · 이 미션에서 배우는 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E8F1FB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agent/turn2/workspace/output/_anthropic_assets/icon-book-063e2f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왜 개념부터인가?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에이전트를 직접 만들기 전에, 그 기반이 되는 AI 개념을 확실히 이해해야 합니다. 개념을 알면 “왜 이렇게 설정하는가”가 보이고, 이후 모든 실습이 쉬워집니다.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2029968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17920" y="2148840"/>
            <a:ext cx="310896" cy="310896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21792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2029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AI란 무엇인가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688336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217920" y="2807208"/>
            <a:ext cx="310896" cy="310896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21792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LLM이 채팅 경험을 어떻게 구동하는가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3346704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217920" y="3465576"/>
            <a:ext cx="310896" cy="310896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21792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33467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RAG가 어떤 가치를 더하는가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35040" y="4005072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217920" y="4123944"/>
            <a:ext cx="310896" cy="310896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21792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75120" y="4005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에이전트와 자율형 에이전트의 차이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35040" y="466344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217920" y="4782312"/>
            <a:ext cx="310896" cy="310896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21792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Studio가 이 개념들을 어떻게 활용하는가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3977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686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미션의 흐름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68680" y="457200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</a:t>
            </a:r>
            <a:r>
              <a:rPr lang="en-US" sz="15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기초</a:t>
            </a:r>
            <a:r>
              <a:rPr lang="en-US" sz="15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r>
              <a:rPr lang="en-US" sz="15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유형</a:t>
            </a:r>
            <a:r>
              <a:rPr lang="en-US" sz="15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</a:t>
            </a: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AI(Conversational AI)란?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agent/turn2/workspace/output/_anthropic_assets/icon-chat-a61c6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373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사람의 언어(텍스트 또는 음성)를 이해·처리하여, 자연스럽게 느껴지는 방식으로 응답할 수 있는 시스템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91440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웹사이트 챗봇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5935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주문 상태를 알려 주는 고객 지원 봇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178808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48640" y="4178808"/>
            <a:ext cx="91440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6868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가상 비서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즐겨 쓰는 앱 안의 어시스턴트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202936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48640" y="5202936"/>
            <a:ext cx="91440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68680" y="5321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음성 인터페이스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56418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말로 요청하고 말로 답을 받는 경험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1572768"/>
            <a:ext cx="3977640" cy="4553712"/>
          </a:xfrm>
          <a:prstGeom prst="roundRect">
            <a:avLst>
              <a:gd name="adj" fmla="val 2299"/>
            </a:avLst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955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E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95528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오늘날 대부분의 현대적인 대화형 AI는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내부적으로 LLM에 의존합니다.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955280" y="3383280"/>
            <a:ext cx="3383280" cy="0"/>
          </a:xfrm>
          <a:prstGeom prst="line">
            <a:avLst/>
          </a:prstGeom>
          <a:noFill/>
          <a:ln w="12700">
            <a:solidFill>
              <a:srgbClr val="3E6C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955280" y="36118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규칙 기반 챗봇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정해진 키워드·시나리오만 처리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6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기반 대화형 AI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>
                <a:solidFill>
                  <a:srgbClr val="C6D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의도를 해석하고 문장을 생성해 응답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기초 — 대화형 AI의 심장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대규모 언어 모델(Large Language Model)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방대한 양의 텍스트로 학습된 신경망으로, 언어의 통계적 패턴을 학습해 자연스러운 문장을 만들고, 질문에 답하고, 아이디어를 브레인스토밍하거나 콘텐츠를 생성합니다.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112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페이지·책·기사 등 수 TB 규모 텍스트를 학습 → 다양한 주제에 반응하는 “세상 지식”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42702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토큰화 (Tokenization)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62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텍스트를 토큰(단어·서브워드·문자)으로 분해하고, 한 번에 하나의 토큰을 예측</a:t>
            </a:r>
            <a:endParaRPr lang="en-US" sz="1150" dirty="0"/>
          </a:p>
        </p:txBody>
      </p:sp>
      <p:pic>
        <p:nvPicPr>
          <p:cNvPr id="13" name="Image 0" descr="/tmp/htmlgen-assets/a336188f-224e-41eb-a1a2-91415c0521b9/d2be95023fd74623.jpg"/>
          <p:cNvPicPr>
            <a:picLocks noChangeAspect="1"/>
          </p:cNvPicPr>
          <p:nvPr/>
        </p:nvPicPr>
        <p:blipFill>
          <a:blip r:embed="rId3"/>
          <a:srcRect t="17295" b="17295"/>
          <a:stretch>
            <a:fillRect/>
          </a:stretch>
        </p:blipFill>
        <p:spPr>
          <a:xfrm>
            <a:off x="6766560" y="1600200"/>
            <a:ext cx="4846320" cy="2377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0" y="41605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040880" y="4270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컨텍스트 윈도우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40880" y="45628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번에 “볼 수 있는” 토큰 수의 한계. 넘어서면 앞선 정보가 줄거나 잘림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66560" y="52120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040880" y="53218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프롬프팅 (Prompting)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40880" y="56144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프롬프트가 좋을수록 응답이 더 초점 있고 관련성이 높아짐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LLM을 이해하는 가장 쉬운 비유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5F0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agent/turn2/workspace/output/_anthropic_assets/icon-lightbulb-5a761a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3172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“LLM은 매우 똑똑한 자동완성이다.”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965960" y="26517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인간의 뇌처럼 의미를 진짜로 이해하는 것은 아니지만, 주어진 순서에서 다음에 올 가장 적절한 단어(또는 구문)를 예측하는 데 매우 뛰어납니다.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3520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296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의미를 이해하지 않는다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확률적으로 다음 토큰을 예측할 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9392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279392" y="3977640"/>
            <a:ext cx="3520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553712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시점 이후를 모른다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53712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최신 정보·사내 데이터는 알 수 없음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10144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010144" y="3977640"/>
            <a:ext cx="35204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284464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그럴듯한 오답을 만든다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84464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환각(hallucination) 발생 가능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이 한계를 보완하기 위해 등장한 것이 RAG입니다.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검색 증강 생성(RAG)이 필요한 이유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4F4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LLM이 정적인 학습 데이터에만 의존하면 환각(hallucination)을 일으키거나 최신성이 떨어질 수 있습니다.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EAF7F0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7C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RAG는 답변을 만들기 전에 최신 정보를 “찾아보게” 함으로써 이 문제를 보완합니다.</a:t>
            </a:r>
            <a:endParaRPr lang="en-US" sz="1400" dirty="0"/>
          </a:p>
        </p:txBody>
      </p:sp>
      <p:pic>
        <p:nvPicPr>
          <p:cNvPr id="12" name="Image 0" descr="/tmp/htmlgen-assets/a336188f-224e-41eb-a1a2-91415c0521b9/e9a2a8243f63410a.jpg"/>
          <p:cNvPicPr>
            <a:picLocks noChangeAspect="1"/>
          </p:cNvPicPr>
          <p:nvPr/>
        </p:nvPicPr>
        <p:blipFill>
          <a:blip r:embed="rId3"/>
          <a:srcRect t="16666" b="16666"/>
          <a:stretch>
            <a:fillRect/>
          </a:stretch>
        </p:blipFill>
        <p:spPr>
          <a:xfrm>
            <a:off x="548640" y="3703320"/>
            <a:ext cx="4754880" cy="23774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RAG가 더하는 가치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0" y="416052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/agent/turn2/workspace/output/_anthropic_assets/icon-database-search-4997af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428853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27648" y="4160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근거 있는 답변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046720" y="41605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문서·데이터에 기반해 응답을 생성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0" y="4818888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/agent/turn2/workspace/output/_anthropic_assets/icon-flash-9ec817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494690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48188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최신성 확보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046720" y="48188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모델을 재학습하지 않아도 최신 정보 반영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669280" y="5477256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/agent/turn2/workspace/output/_anthropic_assets/icon-target-d503ab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560527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7648" y="5477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조직 특화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046720" y="54772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SharePoint·내부 DB 등 우리 회사 지식 활용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RAG는 이렇게 동작합니다 · 4단계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C7DA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 질의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질문합니다.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“Contoso의 최신 분기 실적은 어때?”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63824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01568" y="17373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01568" y="1737360"/>
            <a:ext cx="2651760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C7DA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576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검색 단계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Retriever Step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문서, 공개 웹사이트, 내부 DB, SharePoint 라이브러리 등 지식 원본을 조회해 관련 정보를 찾습니다.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54496" y="17373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54496" y="1737360"/>
            <a:ext cx="2651760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0528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C7DA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10528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증강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052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검색된 데이터를 LLM에 보내기 전, 프롬프트 앞이나 뒤에 덧붙입니다.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07424" y="17373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107424" y="1737360"/>
            <a:ext cx="2651760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363456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C7DA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363456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생성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63456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63456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LLM이 검색된 근거를 바탕으로 최종 답변을 생성합니다.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22960" y="55778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핵심: LLM을 다시 학습시키지 않고도, 지식 원본만 바꾸면 에이전트의 답변이 최신화됩니다.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유형 · 대화형 vs 자율형</a:t>
            </a:r>
            <a:endParaRPr lang="en-US" sz="3000" dirty="0"/>
          </a:p>
        </p:txBody>
      </p:sp>
      <p:pic>
        <p:nvPicPr>
          <p:cNvPr id="6" name="Image 0" descr="/tmp/htmlgen-assets/a336188f-224e-41eb-a1a2-91415c0521b9/a9b6db8464f1437a.jpg"/>
          <p:cNvPicPr>
            <a:picLocks noChangeAspect="1"/>
          </p:cNvPicPr>
          <p:nvPr/>
        </p:nvPicPr>
        <p:blipFill>
          <a:blip r:embed="rId3"/>
          <a:srcRect t="38252" b="38252"/>
          <a:stretch>
            <a:fillRect/>
          </a:stretch>
        </p:blipFill>
        <p:spPr>
          <a:xfrm>
            <a:off x="548640" y="1572768"/>
            <a:ext cx="110642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20040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440680" cy="6858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에이전트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사람의 질문에 응답하는 것이 출발점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토픽·트리거·노드로 대화 경로를 설계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규칙 기반의 예측 가능한 흐름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사내 FAQ 봇, 주문 조회 봇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320040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172200" y="3200400"/>
            <a:ext cx="544068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4465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자율형 에이전트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4652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4069080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사람의 질문 없이도 스스로 동작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이벤트·일정 등 트리거로 기동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목표를 향해 도구를 호출하며 처리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●"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예: 메일 수신 시 자동 분류·승인 요청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TYPES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선언형 에이전트 vs Copilot Studio 커스텀 에이전트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32820"/>
              </p:ext>
            </p:extLst>
          </p:nvPr>
        </p:nvGraphicFramePr>
        <p:xfrm>
          <a:off x="548640" y="1691640"/>
          <a:ext cx="11064240" cy="34015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구분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선언형 에이전트 (M365 Copilot)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커스텀 에이전트 (Copilot Studio)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한 줄 정의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 Copilot 안에서 만드는 간단한 에이전트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다양한 채널에 배포하는 본격 에이전트 플랫폼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주 목적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온보딩·문서 Q&amp;A 등 RAG 기반 응답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업무 자동화·고급 액션·오케스트레이션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코딩 레벨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노코드 (지침 + 지식 소스 선언)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로우코드 (드래그앤드롭 + 필요 시 식/코드)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확장 방법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지식 소스 연결, 시작 프롬프트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도구/액션, 커넥터, 플로우, 연결된 에이전트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배포 대상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 Copilot · Teams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Teams, 웹, 음성 등 다채널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</a:t>
            </a:r>
            <a:r>
              <a:rPr lang="en-US" sz="1350" b="1" err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과정</a:t>
            </a:r>
            <a:r>
              <a:rPr lang="en-US" sz="135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(Standard harness)은 토픽·트리거·노드·에이전트 흐름으로 예측 가능한 대화 로직을 만드는 커스텀 에이전트 트랙입니다.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Studio의 에이전트는 이 개념들을 이렇게 씁니다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agent/turn2/workspace/output/_anthropic_assets/icon-brain-18dd89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39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모델 (LLM)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496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추론과 언어 이해를 담당. 사용자의 의도를 해석하고 자연스러운 문장으로 답변을 생성합니다.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492240" y="20116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agent/turn2/workspace/output/_anthropic_assets/icon-database-search-4997af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039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 (Knowledge)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52360" y="2496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RAG의 실체. SharePoint, 문서, 웹사이트, 데이터베이스를 지식 소스로 연결해 답변을 그라운딩합니다.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68680" y="420624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agent/turn2/workspace/output/_anthropic_assets/icon-book-063e2f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89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233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지침 (Instructions)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690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에이전트의 목표·말투·제약 조건을 정의. 무엇을 해야 하고 하지 말아야 하는지를 선언합니다.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7220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101600" dist="12700" dir="5400000" algn="bl" rotWithShape="0">
              <a:srgbClr val="C9D2DE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492240" y="420624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/agent/turn2/workspace/output/_anthropic_assets/icon-flash-9ec817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891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233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도구·토픽 (Tools/Topics)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452360" y="4690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행동. 커넥터·에이전트 흐름을 호출하고, 토픽으로 대화 경로를 설계합니다.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989320"/>
            <a:ext cx="11064240" cy="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미션 01 핵심 요약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사람의 언어를 이해하고 자연스럽게 응답하는 시스템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53712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53712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“매우 똑똑한 자동완성” — 토큰 단위로 다음 말을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84464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84464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컨텍스트 윈도우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 번에 볼 수 있는 토큰의 한계가 존재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0566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답변 전에 지식 원본을 검색해 근거와 최신성을 확보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79392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53712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53712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유형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3712" y="50566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대화형은 응답 중심, 자율형은 이벤트 기반 자율 실행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10144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84464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84464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84464" y="50566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모델·지식·지침·도구를 조합해 에이전트를 구성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01 · 에이전트 소개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이번 미션은 코드나 설정 작업이 아닌 개념 정립 미션입니다. 아래 항목을 스스로 설명할 수 있으면 통과입니다.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AI와 규칙 기반 챗봇의 차이를 설명한다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토큰·컨텍스트 윈도우·프롬프팅을 예로 들어 말한다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4단계(질의→검색→증강→생성)를 그린다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7548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4709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대화형 vs 자율형 에이전트를 업무 사례로 구분한다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3035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868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다음 미션(Copilot Studio 기초)의 학습 대상을 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35240" y="164592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552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E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정보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코드네임  </a:t>
            </a: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 AI AGENT DECODE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소요 시간  </a:t>
            </a: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약 30분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난이도  </a:t>
            </a: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 · 입문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397764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F5F0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5528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다음 미션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3D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실습 02 · Copilot Studio 기초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0" y="50292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지식(Knowledge), 도구(Tools), 토픽(Topics), 지침(Instructions)으로 이루어진 에이전트의 핵심 구조를 배웁니다.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Academy · Recruit (Standard) · 미션 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82296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Segoe UI"/>
              </a:rPr>
              <a:t>Copilot Studio </a:t>
            </a:r>
            <a:r>
              <a:rPr lang="ko-KR" altLang="en-US" sz="4600" b="1" err="1">
                <a:solidFill>
                  <a:srgbClr val="FFFFFF"/>
                </a:solidFill>
                <a:latin typeface="Segoe UI"/>
              </a:rPr>
              <a:t>기초</a:t>
            </a:r>
            <a:endParaRPr lang="ko-KR" altLang="en-US" sz="46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6583680" cy="629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600" b="0">
                <a:solidFill>
                  <a:srgbClr val="C6D4E6"/>
                </a:solidFill>
                <a:latin typeface="Segoe UI"/>
              </a:rPr>
              <a:t>Knowledge, Tools, Topics, Instructions</a:t>
            </a:r>
            <a:r>
              <a:rPr lang="ko-KR" altLang="en-US" sz="1600" b="0">
                <a:solidFill>
                  <a:srgbClr val="C6D4E6"/>
                </a:solidFill>
                <a:latin typeface="Segoe UI"/>
              </a:rPr>
              <a:t>가 어떻게 맞물려 에이전트를 구성하는지 배웁니다</a:t>
            </a:r>
            <a:r>
              <a:rPr lang="en-US" altLang="ko-KR" sz="16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 w="17780">
            <a:solidFill>
              <a:srgbClr val="3E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89114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 w="17780">
            <a:solidFill>
              <a:srgbClr val="3E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489114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소요 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30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pic>
        <p:nvPicPr>
          <p:cNvPr id="11" name="Picture 10" descr="45f5f211069f4041.jpg"/>
          <p:cNvPicPr>
            <a:picLocks noChangeAspect="1"/>
          </p:cNvPicPr>
          <p:nvPr/>
        </p:nvPicPr>
        <p:blipFill>
          <a:blip r:embed="rId2"/>
          <a:srcRect l="10216" r="10216"/>
          <a:stretch>
            <a:fillRect/>
          </a:stretch>
        </p:blipFill>
        <p:spPr>
          <a:xfrm>
            <a:off x="7863840" y="1463040"/>
            <a:ext cx="3749039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 미션에서 배우는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47088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1901952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왜 지금 기초인가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754880" cy="81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첫 에이전트를 만들기 전에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모든 커스텀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AI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에이전트를 구성하는 네 가지 핵심 요소와 이들이 오케스트레이터 안에서 함께 동작하는 방식을 이해해야 합니다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72768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학습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29968"/>
            <a:ext cx="5394960" cy="6217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218541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5622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4468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가 무엇이고 언제 쓰는지 이해하기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61488"/>
            <a:ext cx="5394960" cy="6217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291693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98774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620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조직이 지식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자동화 시나리오에 에이전트를 쓰는 이유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93008"/>
            <a:ext cx="5394960" cy="6217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0" y="36484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7192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077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Knowledge·Tools·Topics·Instructions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가 에이전트를 형성하는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24528"/>
            <a:ext cx="5394960" cy="62179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437997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45078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3924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오케스트레이터가 네 요소를 하나로 묶는 방법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20624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환경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663440"/>
            <a:ext cx="4754880" cy="811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 과정은 클래식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(Classic)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환경 기준으로 작성되었습니다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개념은 새 환경에도 그대로 적용되지만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스크린샷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클릭 경로가 다르면 화면 오른쪽 위의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New Experience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토글을 꺼 주세요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의 에이전트란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8346"/>
            <a:ext cx="1033272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에이전트</a:t>
            </a:r>
            <a:r>
              <a:rPr lang="en-US" altLang="ko-KR" sz="1900" b="1">
                <a:solidFill>
                  <a:srgbClr val="0A3D6B"/>
                </a:solidFill>
                <a:latin typeface="Segoe UI"/>
              </a:rPr>
              <a:t>(agent) = </a:t>
            </a:r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특정 작업을 처리하도록 설계한 전문 </a:t>
            </a:r>
            <a:r>
              <a:rPr lang="en-US" altLang="ko-KR" sz="1900" b="1">
                <a:solidFill>
                  <a:srgbClr val="0A3D6B"/>
                </a:solidFill>
                <a:latin typeface="Segoe UI"/>
              </a:rPr>
              <a:t>AI </a:t>
            </a:r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도우미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36392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384048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회사 고유의 데이터를 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정책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문서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데이터베이스 등 조직 지식을 기반으로 답합니다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53712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13639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53712" y="384048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현실 업무를 수행한다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메시지 전송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일정 생성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레코드 업데이트 같은 실제 작업을 실행합니다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84464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chat-multiple-person-d71e65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3136392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4464" y="384048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대화 컨텍스트를 유지한다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앞선 질문을 이어받아 자연스럽게 후속 대화를 진행합니다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332720" cy="776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는 로우코드 도구입니다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.</a:t>
            </a:r>
          </a:p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코딩 경험이 없어도 구성 요소를 드래그 앤 드롭해 에이전트를 만들고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완성 후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Teams·Slack·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커스텀 웹페이지에서 답변 제공이나 워크플로 자동 실행에 활용할 수 있습니다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언제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왜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를 사용할까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0">
                <a:solidFill>
                  <a:srgbClr val="5A6270"/>
                </a:solidFill>
                <a:latin typeface="Segoe UI"/>
              </a:rPr>
              <a:t>Microsoft 365 Copilot</a:t>
            </a:r>
            <a:r>
              <a:rPr lang="ko-KR" altLang="en-US" sz="1400" b="0">
                <a:solidFill>
                  <a:srgbClr val="5A6270"/>
                </a:solidFill>
                <a:latin typeface="Segoe UI"/>
              </a:rPr>
              <a:t>은 </a:t>
            </a:r>
            <a:r>
              <a:rPr lang="en-US" altLang="ko-KR" sz="1400" b="0">
                <a:solidFill>
                  <a:srgbClr val="5A6270"/>
                </a:solidFill>
                <a:latin typeface="Segoe UI"/>
              </a:rPr>
              <a:t>Office </a:t>
            </a:r>
            <a:r>
              <a:rPr lang="ko-KR" altLang="en-US" sz="1400" b="0">
                <a:solidFill>
                  <a:srgbClr val="5A6270"/>
                </a:solidFill>
                <a:latin typeface="Segoe UI"/>
              </a:rPr>
              <a:t>앱 전반의 범용 </a:t>
            </a:r>
            <a:r>
              <a:rPr lang="en-US" altLang="ko-KR" sz="1400" b="0">
                <a:solidFill>
                  <a:srgbClr val="5A6270"/>
                </a:solidFill>
                <a:latin typeface="Segoe UI"/>
              </a:rPr>
              <a:t>AI </a:t>
            </a:r>
            <a:r>
              <a:rPr lang="ko-KR" altLang="en-US" sz="1400" b="0">
                <a:solidFill>
                  <a:srgbClr val="5A6270"/>
                </a:solidFill>
                <a:latin typeface="Segoe UI"/>
              </a:rPr>
              <a:t>지원에 강합니다</a:t>
            </a:r>
            <a:r>
              <a:rPr lang="en-US" altLang="ko-KR" sz="14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400" b="0">
                <a:solidFill>
                  <a:srgbClr val="5A6270"/>
                </a:solidFill>
                <a:latin typeface="Segoe UI"/>
              </a:rPr>
              <a:t>하지만 다음 상황에서는 커스텀 에이전트가 더 적합합니다</a:t>
            </a:r>
            <a:r>
              <a:rPr lang="en-US" altLang="ko-KR" sz="14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09728" cy="114300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50591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95728"/>
            <a:ext cx="9418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여러 지식 원본을 조합해야 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98064"/>
            <a:ext cx="9418320" cy="484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M365 Copilot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은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SharePoint·Outlook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등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Microsoft 365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내부 컨텍스트에 강점이 있습니다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그보다 더 다양한 지식 원본을 함께 검색해야 한다면 에이전트가 좋은 선택입니다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39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520439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21607"/>
            <a:ext cx="9418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여러 단계의 워크플로를 자동화하고 싶을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23944"/>
            <a:ext cx="9418320" cy="484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“비용이 제출되면 → 승인 요청을 보내고 → 재무 추적기를 업데이트하고 → 관리자에게 알림”처럼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다단계 흐름을 하나의 명령 또는 이벤트로 처리할 수 있습니다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47488"/>
            <a:ext cx="9418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특정 업무에 특화된 경험이 필요할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49824"/>
            <a:ext cx="9418320" cy="228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조직의 규칙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말투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절차를 지침으로 선언해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범용 챗봇이 아닌 우리 업무 전용 도우미를 만들 수 있습니다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에이전트를 이루는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4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가지 핵심 요소</a:t>
            </a:r>
          </a:p>
        </p:txBody>
      </p:sp>
      <p:pic>
        <p:nvPicPr>
          <p:cNvPr id="6" name="Picture 5" descr="45f5f211069f4041.jpg"/>
          <p:cNvPicPr>
            <a:picLocks noChangeAspect="1"/>
          </p:cNvPicPr>
          <p:nvPr/>
        </p:nvPicPr>
        <p:blipFill>
          <a:blip r:embed="rId2"/>
          <a:srcRect l="214" r="214"/>
          <a:stretch>
            <a:fillRect/>
          </a:stretch>
        </p:blipFill>
        <p:spPr>
          <a:xfrm>
            <a:off x="548640" y="1572768"/>
            <a:ext cx="42062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60520"/>
            <a:ext cx="4206240" cy="776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오케스트레이터</a:t>
            </a:r>
          </a:p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사용자의 의도를 해석해 어떤 지식을 찾고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어떤 도구를 부르고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어떤 토픽으로 갈지 결정하는 두뇌 역할을 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72768"/>
            <a:ext cx="3154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1572768"/>
            <a:ext cx="3154680" cy="91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89280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2487168"/>
            <a:ext cx="2743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>
                <a:solidFill>
                  <a:srgbClr val="0A3D6B"/>
                </a:solidFill>
                <a:latin typeface="Segoe UI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5292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8B5CF6"/>
                </a:solidFill>
                <a:latin typeface="Segoe UI"/>
              </a:rPr>
              <a:t>지식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172968"/>
            <a:ext cx="2743200" cy="20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에이전트가 답할 때 참조하는 정보 원본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72768"/>
            <a:ext cx="3154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572768"/>
            <a:ext cx="3154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toolbox-46790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892807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1080" y="2487168"/>
            <a:ext cx="2743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>
                <a:solidFill>
                  <a:srgbClr val="0A3D6B"/>
                </a:solidFill>
                <a:latin typeface="Segoe UI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5292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8B5CF6"/>
                </a:solidFill>
                <a:latin typeface="Segoe UI"/>
              </a:rPr>
              <a:t>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172968"/>
            <a:ext cx="2743200" cy="20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에이전트가 실제로 수행하는 행동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858768"/>
            <a:ext cx="3154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858768"/>
            <a:ext cx="3154680" cy="91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branch-36aff3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178807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03520" y="4773168"/>
            <a:ext cx="2743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>
                <a:solidFill>
                  <a:srgbClr val="0A3D6B"/>
                </a:solidFill>
                <a:latin typeface="Segoe UI"/>
              </a:rPr>
              <a:t>Topics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138927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8B5CF6"/>
                </a:solidFill>
                <a:latin typeface="Segoe UI"/>
              </a:rPr>
              <a:t>토픽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458968"/>
            <a:ext cx="2743200" cy="20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정해진 대화 경로와 분기 로직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858768"/>
            <a:ext cx="3154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3858768"/>
            <a:ext cx="3154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-document-bullet-list-7b7e29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178807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1080" y="4773168"/>
            <a:ext cx="2743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>
                <a:solidFill>
                  <a:srgbClr val="0A3D6B"/>
                </a:solidFill>
                <a:latin typeface="Segoe UI"/>
              </a:rPr>
              <a:t>Instructions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138927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8B5CF6"/>
                </a:solidFill>
                <a:latin typeface="Segoe UI"/>
              </a:rPr>
              <a:t>지침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458968"/>
            <a:ext cx="2743200" cy="20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에이전트의 역할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말투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규칙 선언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BLOCK 1 ·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지식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(Knowledge) —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에이전트가 아는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888569"/>
            <a:ext cx="969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에이전트가 답변을 만들 때 참조하는 정보 원본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—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01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의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RAG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가 실제로 동작하는 지점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54406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F6CBD"/>
                </a:solidFill>
                <a:latin typeface="Segoe UI"/>
              </a:rPr>
              <a:t>SharePoint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8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사내 문서 라이브러리를 그대로 지식으로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파일 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5468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PDF·Word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등 문서를 에이전트에 직접 업로드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840480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공개 웹사이트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0624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지정한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URL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의 공개 콘텐츠를 검색 대상으로 지정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44068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F6CBD"/>
                </a:solidFill>
                <a:latin typeface="Segoe UI"/>
              </a:rPr>
              <a:t>Dataverse·</a:t>
            </a:r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커넥터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업무 시스템의 정형 데이터를 실시간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332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기억할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332720" cy="507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C6D4E6"/>
                </a:solidFill>
                <a:latin typeface="Segoe UI"/>
              </a:rPr>
              <a:t>지식은 “정확도”의 핵심입니다</a:t>
            </a:r>
            <a:r>
              <a:rPr lang="en-US" altLang="ko-KR" sz="1250" b="0">
                <a:solidFill>
                  <a:srgbClr val="C6D4E6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C6D4E6"/>
                </a:solidFill>
                <a:latin typeface="Segoe UI"/>
              </a:rPr>
              <a:t>좋은 지식 원본을 연결하면 모델을 바꾸지 않아도 답변 품질이 올라가고</a:t>
            </a:r>
            <a:r>
              <a:rPr lang="en-US" altLang="ko-KR" sz="125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C6D4E6"/>
                </a:solidFill>
                <a:latin typeface="Segoe UI"/>
              </a:rPr>
              <a:t>답변에 출처</a:t>
            </a:r>
            <a:r>
              <a:rPr lang="en-US" altLang="ko-KR" sz="1250" b="0">
                <a:solidFill>
                  <a:srgbClr val="C6D4E6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C6D4E6"/>
                </a:solidFill>
                <a:latin typeface="Segoe UI"/>
              </a:rPr>
              <a:t>인용</a:t>
            </a:r>
            <a:r>
              <a:rPr lang="en-US" altLang="ko-KR" sz="1250" b="0">
                <a:solidFill>
                  <a:srgbClr val="C6D4E6"/>
                </a:solidFill>
                <a:latin typeface="Segoe UI"/>
              </a:rPr>
              <a:t>)</a:t>
            </a:r>
            <a:r>
              <a:rPr lang="ko-KR" altLang="en-US" sz="1250" b="0">
                <a:solidFill>
                  <a:srgbClr val="C6D4E6"/>
                </a:solidFill>
                <a:latin typeface="Segoe UI"/>
              </a:rPr>
              <a:t>를 함께 제시할 수 있습니다</a:t>
            </a:r>
            <a:r>
              <a:rPr lang="en-US" altLang="ko-KR" sz="125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BLOCK 2 ·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도구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(Tools) —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에이전트가 하는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toolbox-46790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888569"/>
            <a:ext cx="969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600" b="1">
                <a:solidFill>
                  <a:srgbClr val="5B21B6"/>
                </a:solidFill>
                <a:latin typeface="Segoe UI"/>
              </a:rPr>
              <a:t>에이전트가 대화를 넘어 실제 행동을 하게 만드는 요소 </a:t>
            </a:r>
            <a:r>
              <a:rPr lang="en-US" altLang="ko-KR" sz="1600" b="1">
                <a:solidFill>
                  <a:srgbClr val="5B21B6"/>
                </a:solidFill>
                <a:latin typeface="Segoe UI"/>
              </a:rPr>
              <a:t>— </a:t>
            </a:r>
            <a:r>
              <a:rPr lang="ko-KR" altLang="en-US" sz="1600" b="1">
                <a:solidFill>
                  <a:srgbClr val="5B21B6"/>
                </a:solidFill>
                <a:latin typeface="Segoe UI"/>
              </a:rPr>
              <a:t>시스템을 호출하고 값을 되돌려 받습니다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커넥터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Connector)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016627"/>
            <a:ext cx="6492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>
                <a:solidFill>
                  <a:srgbClr val="5A6270"/>
                </a:solidFill>
                <a:latin typeface="Segoe UI"/>
              </a:rPr>
              <a:t>Outlook, Teams, SharePoint, SQL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등 수많은 서비스에 연결해 조회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생성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수정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에이전트 흐름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Agent 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976747"/>
            <a:ext cx="6492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여러 단계를 결정론적으로 실행하는 자동화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같은 입력 → 항상 같은 출력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프롬프트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/ AI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작업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936867"/>
            <a:ext cx="6492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문서 요약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분류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텍스트 생성 등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LLM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기반 처리를 도구로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A3D6B"/>
                </a:solidFill>
                <a:latin typeface="Segoe UI"/>
              </a:rPr>
              <a:t>REST API · MCP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896987"/>
            <a:ext cx="64922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외부 업무 시스템을 직접 호출해 사내 자산과 통합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BLOCK 3 ·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토픽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(Topics) —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정해진 대화의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949440" cy="847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토픽은 “이 질문이 들어오면 이 순서로 응답한다”를 미리 설계해 둔 대화 경로입니다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</a:t>
            </a:r>
          </a:p>
          <a:p>
            <a:pPr algn="l">
              <a:lnSpc>
                <a:spcPts val="23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규칙 기반이라 결과가 예측 가능하고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반복되는 문의를 일관되게 처리할 수 있습니다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6949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3026664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24905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62656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트리거 구문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73552"/>
            <a:ext cx="58521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토픽을 시작시키는 사용자 발화 예시들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6949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3895344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993585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31335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노드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Node)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42231"/>
            <a:ext cx="58521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질문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메시지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조건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변수 설정 등 하나하나의 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6949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4764024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62265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00016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분기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Condition)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10912"/>
            <a:ext cx="58521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조건에 따라 다른 경로로 대화를 나눔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79"/>
            <a:ext cx="6949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5632703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0944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68695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변수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Variable)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879592"/>
            <a:ext cx="58521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수집한 값을 저장해 이후 단계와 도구에 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600200"/>
            <a:ext cx="3840480" cy="45262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874519"/>
            <a:ext cx="3200400" cy="220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토픽 </a:t>
            </a:r>
            <a:r>
              <a:rPr lang="en-US" altLang="ko-KR" sz="1300" b="1">
                <a:solidFill>
                  <a:srgbClr val="6EC6FF"/>
                </a:solidFill>
                <a:latin typeface="Segoe UI"/>
              </a:rPr>
              <a:t>vs </a:t>
            </a: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생성형 오케스트레이션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06040"/>
            <a:ext cx="3200400" cy="192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토픽 중심 설계</a:t>
            </a:r>
          </a:p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직접 만든 경로만 따라가므로 예측 가능하지만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표현이 달라지면 대응이 어려울 수 있습니다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.</a:t>
            </a:r>
          </a:p>
          <a:p>
            <a:pPr algn="l">
              <a:lnSpc>
                <a:spcPts val="1900"/>
              </a:lnSpc>
            </a:pPr>
            <a:r>
              <a:rPr lang="ko-KR" altLang="en-US" sz="800" b="0">
                <a:solidFill>
                  <a:srgbClr val="1B1B1F"/>
                </a:solidFill>
                <a:latin typeface="Segoe UI"/>
              </a:rPr>
              <a:t> </a:t>
            </a:r>
          </a:p>
          <a:p>
            <a:pPr algn="l">
              <a:lnSpc>
                <a:spcPts val="1900"/>
              </a:lnSpc>
            </a:pPr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생성형 오케스트레이션</a:t>
            </a:r>
          </a:p>
          <a:p>
            <a:pPr algn="l">
              <a:lnSpc>
                <a:spcPts val="1900"/>
              </a:lnSpc>
            </a:pP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LLM</a:t>
            </a: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이 의도를 해석해 토픽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지식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도구를 스스로 조합합니다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C6D4E6"/>
                </a:solidFill>
                <a:latin typeface="Segoe UI"/>
              </a:rPr>
              <a:t>토픽 수를 줄이고 모호한 질문에도 대응합니다</a:t>
            </a:r>
            <a:r>
              <a:rPr lang="en-US" altLang="ko-KR" sz="115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BLOCK 4 ·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지침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(Instructions) —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에이전트의 성격과 규칙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document-bullet-list-7b7e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888569"/>
            <a:ext cx="969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에이전트의 목표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말투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제약 조건을 자연어로 선언합니다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— “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무엇을 하고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무엇을 하지 않는가”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798064"/>
            <a:ext cx="4846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F6CBD"/>
                </a:solidFill>
                <a:latin typeface="Segoe UI"/>
              </a:rPr>
              <a:t>역할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63824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“당신은 사내 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HR </a:t>
            </a:r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정책 안내 도우미입니다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798064"/>
            <a:ext cx="4846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F6CBD"/>
                </a:solidFill>
                <a:latin typeface="Segoe UI"/>
              </a:rPr>
              <a:t>행동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63824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“연차 잔여일 질문은 반드시 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HR </a:t>
            </a:r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시스템 도구로 조회한다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895344"/>
            <a:ext cx="4846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F6CBD"/>
                </a:solidFill>
                <a:latin typeface="Segoe UI"/>
              </a:rPr>
              <a:t>말투</a:t>
            </a:r>
            <a:r>
              <a:rPr lang="en-US" altLang="ko-KR" sz="1350" b="1">
                <a:solidFill>
                  <a:srgbClr val="0F6CBD"/>
                </a:solidFill>
                <a:latin typeface="Segoe UI"/>
              </a:rPr>
              <a:t>·</a:t>
            </a:r>
            <a:r>
              <a:rPr lang="ko-KR" altLang="en-US" sz="1350" b="1">
                <a:solidFill>
                  <a:srgbClr val="0F6CBD"/>
                </a:solidFill>
                <a:latin typeface="Segoe UI"/>
              </a:rPr>
              <a:t>형식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61104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“존댓말로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, 3</a:t>
            </a:r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문장 이내로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출처를 함께 제시한다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49039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895344"/>
            <a:ext cx="4846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F6CBD"/>
                </a:solidFill>
                <a:latin typeface="Segoe UI"/>
              </a:rPr>
              <a:t>금지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61104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1B1B1F"/>
                </a:solidFill>
                <a:latin typeface="Segoe UI"/>
              </a:rPr>
              <a:t>“정책에 없는 내용은 추측하지 않고 담당자를 안내한다</a:t>
            </a:r>
            <a:r>
              <a:rPr lang="en-US" altLang="ko-KR" sz="1200" b="0">
                <a:solidFill>
                  <a:srgbClr val="1B1B1F"/>
                </a:solidFill>
                <a:latin typeface="Segoe UI"/>
              </a:rPr>
              <a:t>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332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작성 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332720" cy="23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모호한 문장은 모호한 행동을 낳습니다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구체적인 조건과 예시를 함께 적고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테스트하며 조금씩 다듬어 나가세요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오케스트레이터가 네 요소를 묶는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2194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C7DAF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의도 파악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5468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사용자 발화를 해석해 무엇을 원하는지 판단합니다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(Instructions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가 기준을 제공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6916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938528"/>
            <a:ext cx="2194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C7DAF0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계획 수립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219456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필요한 지식과 도구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토픽을 선택해 처리 순서를 계획합니다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6916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4496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1938528"/>
            <a:ext cx="2194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C7DAF0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651760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5468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지식을 검색하고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(Knowledge),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도구를 호출하고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(Tools),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토픽 경로를 진행합니다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6916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07424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3455" y="1938528"/>
            <a:ext cx="2194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C7DAF0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2651760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응답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315468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수집한 결과를 근거로 지침에 맞는 말투와 형식으로 답변합니다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02925"/>
            <a:ext cx="10332720" cy="532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핵심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: 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네 요소는 따로 노는 기능이 아니라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오케스트레이터가 매 대화마다 조합해 쓰는 재료입니다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. 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하나가 비어 있으면 에이전트의 답변 품질도 그만큼 비어 있습니다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시나리오로 보기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연차 잔여일 조회 요청</a:t>
            </a:r>
          </a:p>
        </p:txBody>
      </p:sp>
      <p:pic>
        <p:nvPicPr>
          <p:cNvPr id="6" name="Picture 5" descr="3858678908c54274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548640" y="1600200"/>
            <a:ext cx="41148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846320"/>
            <a:ext cx="4114800" cy="128016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3566160" cy="53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400" b="1">
                <a:solidFill>
                  <a:srgbClr val="5B21B6"/>
                </a:solidFill>
                <a:latin typeface="Segoe UI"/>
              </a:rPr>
              <a:t>“내 연차가 며칠 남았지</a:t>
            </a:r>
            <a:r>
              <a:rPr lang="en-US" altLang="ko-KR" sz="1400" b="1">
                <a:solidFill>
                  <a:srgbClr val="5B21B6"/>
                </a:solidFill>
                <a:latin typeface="Segoe UI"/>
              </a:rPr>
              <a:t>? </a:t>
            </a:r>
            <a:r>
              <a:rPr lang="ko-KR" altLang="en-US" sz="1400" b="1">
                <a:solidFill>
                  <a:srgbClr val="5B21B6"/>
                </a:solidFill>
                <a:latin typeface="Segoe UI"/>
              </a:rPr>
              <a:t>다음 주 금요일에 쓸 수 있을까</a:t>
            </a:r>
            <a:r>
              <a:rPr lang="en-US" altLang="ko-KR" sz="1400" b="1">
                <a:solidFill>
                  <a:srgbClr val="5B21B6"/>
                </a:solidFill>
                <a:latin typeface="Segoe UI"/>
              </a:rPr>
              <a:t>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00200"/>
            <a:ext cx="66751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91440" cy="80467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1728216"/>
            <a:ext cx="2011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A3D6B"/>
                </a:solidFill>
                <a:latin typeface="Segoe UI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057400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HR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도우미 역할과 답변 규칙에 따라 응답 방향을 정합니다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514600"/>
            <a:ext cx="66751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37760" y="2514600"/>
            <a:ext cx="91440" cy="80467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2642616"/>
            <a:ext cx="2011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A3D6B"/>
                </a:solidFill>
                <a:latin typeface="Segoe UI"/>
              </a:rPr>
              <a:t>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71800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‘연차 문의’ 토픽이 트리거되어 필요한 정보를 순서대로 수집합니다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429000"/>
            <a:ext cx="66751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7760" y="3429000"/>
            <a:ext cx="91440" cy="80467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3557016"/>
            <a:ext cx="2011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A3D6B"/>
                </a:solidFill>
                <a:latin typeface="Segoe UI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886200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HR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시스템 커넥터를 호출해 사용자의 실제 잔여 일수를 조회합니다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4343400"/>
            <a:ext cx="66751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37760" y="4343400"/>
            <a:ext cx="91440" cy="80467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4471416"/>
            <a:ext cx="2011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0A3D6B"/>
                </a:solidFill>
                <a:latin typeface="Segoe UI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800600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사내 휴가 정책 문서를 검색해 신청 기한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승인 절차를 확인합니다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5257800"/>
            <a:ext cx="6675120" cy="804672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37760" y="5257800"/>
            <a:ext cx="91440" cy="804672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5385816"/>
            <a:ext cx="2011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F6CBD"/>
                </a:solidFill>
                <a:latin typeface="Segoe UI"/>
              </a:rPr>
              <a:t>응답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715000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잔여 일수와 정책 근거를 함께 담아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규정된 말투로 답변합니다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02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회사 데이터를 알고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실제 작업을 하고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맥락을 기억하는 전문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AI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도우미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언제 쓰나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97180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여러 지식 원본 조합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다단계 워크플로 자동화가 필요할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97180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답변의 근거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SharePoint·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문서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웹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데이터로 정확도를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2064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실제 행동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커넥터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 흐름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·API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로 시스템을 움직인다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Topics · Instructions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120640"/>
            <a:ext cx="3017520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예측 가능한 대화 경로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+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역할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말투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규칙 선언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오케스트레이터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512064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의도 파악 → 계획 → 실행 → 응답으로 네 요소를 조합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02 · 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Copilot Studio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F6CBD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6126480" cy="531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이번 미션도 개념 정립 미션입니다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. Copilot Studio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화면에서 각 구성 요소가 어디에 있는지 확인하고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아래 항목을 스스로 설명할 수 있으면 통과입니다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9864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05388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에이전트와 범용 챗봇의 차이를 세 가지로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9475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728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5402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커스텀 에이전트가 더 적합한 상황 두 가지를 든다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4340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9592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02668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Knowledge / Tools / Topics / Instructions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를 각각 한 줄로 정의한다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920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4456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130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연차 조회 시나리오를 네 요소로 나누어 설명한다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4067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9320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9994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클래식 환경과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New Experience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토글의 위치를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331720"/>
            <a:ext cx="3383280" cy="1188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코드네임  </a:t>
            </a:r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OPERATION CORE PROTOCOL</a:t>
            </a:r>
          </a:p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소요 시간  약 </a:t>
            </a:r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30</a:t>
            </a: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분</a:t>
            </a:r>
          </a:p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난이도  </a:t>
            </a:r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Level 1 · </a:t>
            </a: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입문</a:t>
            </a:r>
          </a:p>
          <a:p>
            <a:pPr algn="l">
              <a:lnSpc>
                <a:spcPts val="2400"/>
              </a:lnSpc>
            </a:pPr>
            <a:r>
              <a:rPr lang="ko-KR" altLang="en-US" sz="1200" b="0">
                <a:solidFill>
                  <a:srgbClr val="9FB4CC"/>
                </a:solidFill>
                <a:latin typeface="Segoe UI"/>
              </a:rPr>
              <a:t>환경  </a:t>
            </a:r>
            <a:r>
              <a:rPr lang="en-US" altLang="ko-KR" sz="1200" b="0">
                <a:solidFill>
                  <a:srgbClr val="9FB4CC"/>
                </a:solidFill>
                <a:latin typeface="Segoe UI"/>
              </a:rPr>
              <a:t>Classic </a:t>
            </a:r>
            <a:r>
              <a:rPr lang="ko-KR" altLang="en-US" sz="1200" b="0">
                <a:solidFill>
                  <a:srgbClr val="9FB4CC"/>
                </a:solidFill>
                <a:latin typeface="Segoe UI"/>
              </a:rPr>
              <a:t>환경 기준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다음 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572000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03 ·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선언형 에이전트 배포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166360"/>
            <a:ext cx="342900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프롬프트와 조직 지식을 활용해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Microsoft 365 Copilot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용 선언형 에이전트를 만듭니다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6583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altLang="ko-KR" sz="4000" b="1">
                <a:solidFill>
                  <a:srgbClr val="FFFFFF"/>
                </a:solidFill>
                <a:latin typeface="Segoe UI"/>
              </a:rPr>
              <a:t>Microsoft 365 Copilot</a:t>
            </a:r>
            <a:r>
              <a:rPr lang="ko-KR" altLang="en-US" sz="4000" b="1">
                <a:solidFill>
                  <a:srgbClr val="FFFFFF"/>
                </a:solidFill>
                <a:latin typeface="Segoe UI"/>
              </a:rPr>
              <a:t>용
선언형 에이전트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6400800" cy="604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프롬프트와 조직 지식을 기반으로 나만의 에이전트를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M365 Copilot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에 추가합니다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12064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 w="17780">
            <a:solidFill>
              <a:srgbClr val="3E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25690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512064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 w="17780">
            <a:solidFill>
              <a:srgbClr val="3E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525690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소요 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60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pic>
        <p:nvPicPr>
          <p:cNvPr id="11" name="Picture 10" descr="d2f27f359e8e4fc5.jpg"/>
          <p:cNvPicPr>
            <a:picLocks noChangeAspect="1"/>
          </p:cNvPicPr>
          <p:nvPr/>
        </p:nvPicPr>
        <p:blipFill>
          <a:blip r:embed="rId2"/>
          <a:srcRect l="10216" r="10216"/>
          <a:stretch>
            <a:fillRect/>
          </a:stretch>
        </p:blipFill>
        <p:spPr>
          <a:xfrm>
            <a:off x="7863840" y="1463040"/>
            <a:ext cx="3749039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첫 현장 임무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rocket-97eb58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47088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1901952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이번엔 직접 만듭니다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754880" cy="81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Microsoft 365 Copilot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과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Teams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 직접 포함되는 특수 임무형 에이전트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선언형 에이전트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(Declarative Agent)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를 설계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구성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배포합니다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72768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학습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29968"/>
            <a:ext cx="5394960" cy="57607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21625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333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218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선언형 에이전트가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M365 Copilot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을 확장하는 방식 이해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15768"/>
            <a:ext cx="5394960" cy="57607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28483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9191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076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와 </a:t>
            </a:r>
            <a:r>
              <a:rPr lang="en-US" sz="1250" b="0">
                <a:solidFill>
                  <a:srgbClr val="1B1B1F"/>
                </a:solidFill>
                <a:latin typeface="Segoe UI"/>
              </a:rPr>
              <a:t>Agent Builder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의 차이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01568"/>
            <a:ext cx="5394960" cy="57607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0" y="35341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6049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934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에서 선언형 에이전트 만들기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87368"/>
            <a:ext cx="5394960" cy="57607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42199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2907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792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AI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프롬프트를 도구로 추가해 전문성 강화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73168"/>
            <a:ext cx="5394960" cy="57607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00800" y="490575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976565"/>
            <a:ext cx="3108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6502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M365 Copilot·Teams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 게시하고 테스트하기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20624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환경 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63440"/>
            <a:ext cx="4754880" cy="811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 실습도 클래식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(Classic)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환경 기준입니다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화면이 다르게 보이면 오른쪽 위의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New Experience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토글을 꺼서 클래식 환경으로 전환하세요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선언형 에이전트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Declarative Agent)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8346"/>
            <a:ext cx="1033272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선언형 에이전트 </a:t>
            </a:r>
            <a:r>
              <a:rPr lang="en-US" altLang="ko-KR" sz="190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목적에 맞게 맞춤화한 </a:t>
            </a:r>
            <a:r>
              <a:rPr lang="en-US" altLang="ko-KR" sz="1900" b="1">
                <a:solidFill>
                  <a:srgbClr val="0A3D6B"/>
                </a:solidFill>
                <a:latin typeface="Segoe UI"/>
              </a:rPr>
              <a:t>Microsoft 365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36392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384048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지침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Instructions)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특정 프로세스를 지원하도록 에이전트의 임무와 규칙을 선언합니다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53712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13639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53712" y="384048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지식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Knowledge)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00" b="0">
                <a:solidFill>
                  <a:srgbClr val="5A6270"/>
                </a:solidFill>
                <a:latin typeface="Segoe UI"/>
              </a:rPr>
              <a:t>SharePoint, Dataverse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등 조직 지식으로 </a:t>
            </a:r>
            <a:r>
              <a:rPr lang="en-US" sz="1200" b="0">
                <a:solidFill>
                  <a:srgbClr val="5A6270"/>
                </a:solidFill>
                <a:latin typeface="Segoe UI"/>
              </a:rPr>
              <a:t>grounding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84464" y="29718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3136392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4464" y="384048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도구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Tools)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4251960"/>
            <a:ext cx="301752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커넥터를 연결해 확장성과 문제 해결 능력을 넓힙니다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332720" cy="507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같은 두뇌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다른 임무</a:t>
            </a:r>
          </a:p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선언형 에이전트는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Microsoft 365 Copilot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과 동일한 오케스트레이터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기반 모델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·AI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서비스 위에서 동작하며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범위만 우리 업무에 맞게 좁힌 형태입니다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왜 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로 만드나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 · 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Agent Builder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0642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0">
                <a:solidFill>
                  <a:srgbClr val="5A6270"/>
                </a:solidFill>
                <a:latin typeface="Segoe UI"/>
              </a:rPr>
              <a:t>둘 다 프로그래밍 지식 없이 사용할 수 있지만</a:t>
            </a:r>
            <a:r>
              <a:rPr lang="en-US" altLang="ko-KR" sz="1350" b="0">
                <a:solidFill>
                  <a:srgbClr val="5A6270"/>
                </a:solidFill>
                <a:latin typeface="Segoe UI"/>
              </a:rPr>
              <a:t>, Copilot Studio</a:t>
            </a:r>
            <a:r>
              <a:rPr lang="ko-KR" altLang="en-US" sz="1350" b="0">
                <a:solidFill>
                  <a:srgbClr val="5A6270"/>
                </a:solidFill>
                <a:latin typeface="Segoe UI"/>
              </a:rPr>
              <a:t>는 </a:t>
            </a:r>
            <a:r>
              <a:rPr lang="en-US" altLang="ko-KR" sz="1350" b="0">
                <a:solidFill>
                  <a:srgbClr val="5A6270"/>
                </a:solidFill>
                <a:latin typeface="Segoe UI"/>
              </a:rPr>
              <a:t>Agent Builder</a:t>
            </a:r>
            <a:r>
              <a:rPr lang="ko-KR" altLang="en-US" sz="1350" b="0">
                <a:solidFill>
                  <a:srgbClr val="5A6270"/>
                </a:solidFill>
                <a:latin typeface="Segoe UI"/>
              </a:rPr>
              <a:t>의 한계를 넘어 더 세밀한 구성을 지원합니다</a:t>
            </a:r>
            <a:r>
              <a:rPr lang="en-US" altLang="ko-KR" sz="13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56471"/>
              </p:ext>
            </p:extLst>
          </p:nvPr>
        </p:nvGraphicFramePr>
        <p:xfrm>
          <a:off x="548640" y="205740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Segoe UI"/>
                        </a:rPr>
                        <a:t>구분</a:t>
                      </a:r>
                    </a:p>
                  </a:txBody>
                  <a:tcPr marL="109728" anchor="ctr"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  <a:latin typeface="Segoe UI"/>
                        </a:rPr>
                        <a:t>M365 Copilot · Agent Builder</a:t>
                      </a:r>
                    </a:p>
                  </a:txBody>
                  <a:tcPr marL="109728" anchor="ctr"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50" b="1">
                          <a:solidFill>
                            <a:srgbClr val="FFFFFF"/>
                          </a:solidFill>
                          <a:latin typeface="Segoe UI"/>
                        </a:rPr>
                        <a:t>Copilot Studio · </a:t>
                      </a:r>
                      <a:r>
                        <a:rPr lang="ko-KR" altLang="en-US" sz="1250" b="1">
                          <a:solidFill>
                            <a:srgbClr val="FFFFFF"/>
                          </a:solidFill>
                          <a:latin typeface="Segoe UI"/>
                        </a:rPr>
                        <a:t>선언형 에이전트</a:t>
                      </a:r>
                    </a:p>
                  </a:txBody>
                  <a:tcPr marL="109728" anchor="ctr">
                    <a:solidFill>
                      <a:srgbClr val="0A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제작 위치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M365 Copilot / Teams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채팅 </a:t>
                      </a:r>
                      <a:r>
                        <a:rPr 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UX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안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Copilot Studio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전용 제작 화면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지식 소스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기본 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M365 Graph·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공개 웹사이트 중심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SharePoint, Dataverse,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커넥터 등 폭넓게 연결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도구</a:t>
                      </a:r>
                      <a:r>
                        <a:rPr lang="en-US" altLang="ko-KR" sz="1250" b="1">
                          <a:solidFill>
                            <a:srgbClr val="1B1B1F"/>
                          </a:solidFill>
                          <a:latin typeface="Segoe UI"/>
                        </a:rPr>
                        <a:t>·</a:t>
                      </a:r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확장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제한적 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(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기본 기능 중심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AI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프롬프트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,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커넥터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,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흐름 등 도구로 확장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관리</a:t>
                      </a:r>
                      <a:r>
                        <a:rPr lang="en-US" altLang="ko-KR" sz="1250" b="1">
                          <a:solidFill>
                            <a:srgbClr val="1B1B1F"/>
                          </a:solidFill>
                          <a:latin typeface="Segoe UI"/>
                        </a:rPr>
                        <a:t>·</a:t>
                      </a:r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거버넌스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개인 단위 제작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공유 중심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솔루션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·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환경 단위로 관리와 배포 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(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미션 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04)</a:t>
                      </a:r>
                    </a:p>
                  </a:txBody>
                  <a:tcPr marL="109728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ko-KR" altLang="en-US" sz="1250" b="1">
                          <a:solidFill>
                            <a:srgbClr val="1B1B1F"/>
                          </a:solidFill>
                          <a:latin typeface="Segoe UI"/>
                        </a:rPr>
                        <a:t>적합한 경우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빠르게 만드는 문서 </a:t>
                      </a:r>
                      <a:r>
                        <a:rPr lang="en-US" altLang="ko-KR" sz="1250" b="0">
                          <a:solidFill>
                            <a:srgbClr val="1B1B1F"/>
                          </a:solidFill>
                          <a:latin typeface="Segoe UI"/>
                        </a:rPr>
                        <a:t>Q&amp;A </a:t>
                      </a:r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도우미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50" b="0">
                          <a:solidFill>
                            <a:srgbClr val="1B1B1F"/>
                          </a:solidFill>
                          <a:latin typeface="Segoe UI"/>
                        </a:rPr>
                        <a:t>조직 배포를 전제로 한 본격 에이전트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989876"/>
            <a:ext cx="10332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이번 미션은 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에서 선언형 에이전트를 만들어 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Microsoft 365 Copilot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에 배포합니다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이런 업무에 씁니다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활용 시나리오</a:t>
            </a:r>
          </a:p>
        </p:txBody>
      </p:sp>
      <p:pic>
        <p:nvPicPr>
          <p:cNvPr id="6" name="Picture 5" descr="7a358119888f4e86.jpg"/>
          <p:cNvPicPr>
            <a:picLocks noChangeAspect="1"/>
          </p:cNvPicPr>
          <p:nvPr/>
        </p:nvPicPr>
        <p:blipFill>
          <a:blip r:embed="rId2"/>
          <a:srcRect l="338" r="338"/>
          <a:stretch>
            <a:fillRect/>
          </a:stretch>
        </p:blipFill>
        <p:spPr>
          <a:xfrm>
            <a:off x="548640" y="1600200"/>
            <a:ext cx="448056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120640"/>
            <a:ext cx="4480560" cy="1005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303520"/>
            <a:ext cx="3931920" cy="508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이번 실습 시나리오</a:t>
            </a:r>
            <a:r>
              <a:rPr lang="en-US" altLang="ko-KR" sz="1300" b="1">
                <a:solidFill>
                  <a:srgbClr val="5B21B6"/>
                </a:solidFill>
                <a:latin typeface="Segoe UI"/>
              </a:rPr>
              <a:t>: </a:t>
            </a:r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디바이스 관련 질문에 답하는 </a:t>
            </a:r>
            <a:r>
              <a:rPr lang="en-US" altLang="ko-KR" sz="1300" b="1">
                <a:solidFill>
                  <a:srgbClr val="5B21B6"/>
                </a:solidFill>
                <a:latin typeface="Segoe UI"/>
              </a:rPr>
              <a:t>IT </a:t>
            </a:r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셀프헬프 에이전트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00200"/>
            <a:ext cx="6217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94960" y="1600200"/>
            <a:ext cx="91440" cy="132588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shield-checkmark-f2d246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801368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1801368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IT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셀프 헬프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21992"/>
            <a:ext cx="512064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SharePoint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의 내부 지식을 근거로 직원이 흔한 기술 문제를 스스로 해결하도록 돕고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헬프데스크 부담과 비용을 줄입니다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108960"/>
            <a:ext cx="6217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3108960"/>
            <a:ext cx="91440" cy="132588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people-team-cb5116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3101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3310128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온보딩 도우미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30752"/>
            <a:ext cx="512064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신규 입사자가 자주 묻는 절차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정책을 일관된 답변으로 안내합니다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4617720"/>
            <a:ext cx="6217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94960" y="4617720"/>
            <a:ext cx="91440" cy="132588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-sparkle-ded0a9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81888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4818888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업무 특화 전문가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39512"/>
            <a:ext cx="512064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프롬프트를 도구로 붙여 문서 요약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초안 작성 등 반복 작업을 전문화합니다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BUILD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선언형 에이전트 구축 흐름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4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21945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2286000" cy="24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91840"/>
            <a:ext cx="2194560" cy="996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Copilot Studio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에서 선언형 에이전트를 생성하고 이름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설명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기본 지침을 정의합니다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69164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938528"/>
            <a:ext cx="21945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286000" cy="24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프롬프트 만들고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9184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AI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프롬프트를 만들어 에이전트의 도구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(Tool)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로 연결합니다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69164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4496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1938528"/>
            <a:ext cx="21945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3.3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651760"/>
            <a:ext cx="2286000" cy="24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지침 업데이트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&amp;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29184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도구를 언제 호출할지 지침에 명시하고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테스트 창에서 동작을 확인합니다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4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69164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07424" y="1691640"/>
            <a:ext cx="2651760" cy="1097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3455" y="1938528"/>
            <a:ext cx="21945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3.4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2651760"/>
            <a:ext cx="2286000" cy="24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게시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&amp;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3291840"/>
            <a:ext cx="2194560" cy="739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00" b="0">
                <a:solidFill>
                  <a:srgbClr val="5A6270"/>
                </a:solidFill>
                <a:latin typeface="Segoe UI"/>
              </a:rPr>
              <a:t>Microsoft 365 Copilot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과 </a:t>
            </a:r>
            <a:r>
              <a:rPr lang="en-US" sz="1200" b="0">
                <a:solidFill>
                  <a:srgbClr val="5A6270"/>
                </a:solidFill>
                <a:latin typeface="Segoe UI"/>
              </a:rPr>
              <a:t>Microsoft Teams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 게시해 실제로 사용합니다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11125"/>
            <a:ext cx="1033272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핵심 순서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: 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만든다 → 도구를 붙인다 → 언제 쓸지 지침으로 알려준다 → 테스트하고 게시한다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STEP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 만들기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무엇을 정의하나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45329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73936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이름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57568"/>
            <a:ext cx="36576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사용자가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Copilot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안에서 찾게 될 이름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역할이 드러나게 짓습니다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42032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41441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0048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설명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Description)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53680"/>
            <a:ext cx="36576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 에이전트가 무엇을 도와주는지 한두 문장으로 설명합니다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38144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639312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37553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66160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지침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Instructions)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49792"/>
            <a:ext cx="36576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역할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답변 규칙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금지 사항을 자연어로 선언합니다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가장 중요한 항목입니다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34256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4535424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633665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62272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지식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Knowledge)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545904"/>
            <a:ext cx="36576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사이트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문서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공개 웹사이트 등 근거가 될 원본을 연결합니다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30368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543153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529777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358383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시작 프롬프트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530502"/>
            <a:ext cx="3657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사용자가 바로 눌러볼 수 있는 예시 질문을 제시합니다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645920"/>
            <a:ext cx="384048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1874519"/>
            <a:ext cx="3200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지침 작성 예시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377440"/>
            <a:ext cx="3200400" cy="2121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“당신은 사내 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디바이스 지원 도우미입니다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.</a:t>
            </a:r>
          </a:p>
          <a:p>
            <a:pPr algn="l">
              <a:lnSpc>
                <a:spcPts val="2100"/>
              </a:lnSpc>
            </a:pP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직원의 노트북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모바일 기기 문의에 대해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연결된 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정책 문서를 근거로만 답변합니다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</a:t>
            </a:r>
          </a:p>
          <a:p>
            <a:pPr algn="l">
              <a:lnSpc>
                <a:spcPts val="2100"/>
              </a:lnSpc>
            </a:pPr>
            <a:r>
              <a:rPr lang="ko-KR" altLang="en-US" sz="800" b="0">
                <a:solidFill>
                  <a:srgbClr val="1B1B1F"/>
                </a:solidFill>
                <a:latin typeface="Segoe UI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문서에서 근거를 찾지 못하면 추측하지 말고 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헬프데스크 문의 방법을 안내합니다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</a:t>
            </a:r>
          </a:p>
          <a:p>
            <a:pPr algn="l">
              <a:lnSpc>
                <a:spcPts val="2100"/>
              </a:lnSpc>
            </a:pPr>
            <a:r>
              <a:rPr lang="ko-KR" altLang="en-US" sz="800" b="0">
                <a:solidFill>
                  <a:srgbClr val="1B1B1F"/>
                </a:solidFill>
                <a:latin typeface="Segoe UI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항상 존댓말로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단계별 목록 형태로 답변합니다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STEP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AI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프롬프트를 도구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(Tool)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로 추가하기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sparkle-ded0a9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892416"/>
            <a:ext cx="9692640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50" b="1">
                <a:solidFill>
                  <a:srgbClr val="5B21B6"/>
                </a:solidFill>
                <a:latin typeface="Segoe UI"/>
              </a:rPr>
              <a:t>프롬프트 </a:t>
            </a:r>
            <a:r>
              <a:rPr lang="en-US" altLang="ko-KR" sz="1550" b="1">
                <a:solidFill>
                  <a:srgbClr val="5B21B6"/>
                </a:solidFill>
                <a:latin typeface="Segoe UI"/>
              </a:rPr>
              <a:t>= </a:t>
            </a:r>
            <a:r>
              <a:rPr lang="ko-KR" altLang="en-US" sz="1550" b="1">
                <a:solidFill>
                  <a:srgbClr val="5B21B6"/>
                </a:solidFill>
                <a:latin typeface="Segoe UI"/>
              </a:rPr>
              <a:t>특정 작업을 잘 수행하도록 미리 설계해 둔 </a:t>
            </a:r>
            <a:r>
              <a:rPr lang="en-US" altLang="ko-KR" sz="1550" b="1">
                <a:solidFill>
                  <a:srgbClr val="5B21B6"/>
                </a:solidFill>
                <a:latin typeface="Segoe UI"/>
              </a:rPr>
              <a:t>AI </a:t>
            </a:r>
            <a:r>
              <a:rPr lang="ko-KR" altLang="en-US" sz="1550" b="1">
                <a:solidFill>
                  <a:srgbClr val="5B21B6"/>
                </a:solidFill>
                <a:latin typeface="Segoe UI"/>
              </a:rPr>
              <a:t>처리 단위</a:t>
            </a:r>
            <a:r>
              <a:rPr lang="en-US" altLang="ko-KR" sz="1550" b="1">
                <a:solidFill>
                  <a:srgbClr val="5B21B6"/>
                </a:solidFill>
                <a:latin typeface="Segoe UI"/>
              </a:rPr>
              <a:t>. </a:t>
            </a:r>
            <a:r>
              <a:rPr lang="ko-KR" altLang="en-US" sz="1550" b="1">
                <a:solidFill>
                  <a:srgbClr val="5B21B6"/>
                </a:solidFill>
                <a:latin typeface="Segoe UI"/>
              </a:rPr>
              <a:t>이를 도구로 붙여 전문성을 더합니다</a:t>
            </a:r>
            <a:r>
              <a:rPr lang="en-US" altLang="ko-KR" sz="1550" b="1">
                <a:solidFill>
                  <a:srgbClr val="5B21B6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440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953512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입력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Input)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55848"/>
            <a:ext cx="493776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프롬프트가 받을 값을 정의합니다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예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: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사용자가 말한 기기 모델명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증상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9748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697480"/>
            <a:ext cx="5440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953512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프롬프트 본문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493776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모델에게 시킬 작업을 구체적으로 작성합니다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예시와 출력 형식을 함께 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5440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370832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출력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Output)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73168"/>
            <a:ext cx="493776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응답 형태를 정의해 에이전트가 결과를 그대로 활용할 수 있게 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148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4406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370832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도구로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73168"/>
            <a:ext cx="493776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완성한 프롬프트를 에이전트의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Tools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 추가하면 오케스트레이터가 호출합니다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29272"/>
            <a:ext cx="10332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팁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: 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프롬프트는 좋을수록 답이 좋아집니다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. 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역할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맥락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출력 형식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예시 네 가지를 꼭 담으세요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STEP 3.3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지침 업데이트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테스트 그리고 게시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beaker-94b61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9385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F6CBD"/>
                </a:solidFill>
                <a:latin typeface="Segoe UI"/>
              </a:rPr>
              <a:t>3.3 </a:t>
            </a:r>
            <a:r>
              <a:rPr lang="ko-KR" altLang="en-US" sz="1600" b="1">
                <a:solidFill>
                  <a:srgbClr val="0F6CBD"/>
                </a:solidFill>
                <a:latin typeface="Segoe UI"/>
              </a:rPr>
              <a:t>지침 업데이트 </a:t>
            </a:r>
            <a:r>
              <a:rPr lang="en-US" altLang="ko-KR" sz="1600" b="1">
                <a:solidFill>
                  <a:srgbClr val="0F6CBD"/>
                </a:solidFill>
                <a:latin typeface="Segoe UI"/>
              </a:rPr>
              <a:t>&amp; </a:t>
            </a:r>
            <a:r>
              <a:rPr lang="ko-KR" altLang="en-US" sz="1600" b="1">
                <a:solidFill>
                  <a:srgbClr val="0F6CBD"/>
                </a:solidFill>
                <a:latin typeface="Segoe UI"/>
              </a:rPr>
              <a:t>테스트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292608" cy="292608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59145"/>
            <a:ext cx="29260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51760"/>
            <a:ext cx="4389120" cy="23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도구를 “언제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어떤 조건에서” 호출할지 지침에 명시합니다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38728"/>
            <a:ext cx="292608" cy="292608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00393"/>
            <a:ext cx="29260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93008"/>
            <a:ext cx="4389120" cy="23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테스트 창에서 실제 질문을 던져 응답과 인용을 확인합니다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79976"/>
            <a:ext cx="292608" cy="292608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41641"/>
            <a:ext cx="29260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34256"/>
            <a:ext cx="4389120" cy="23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기대와 다르면 지침 문장을 구체화하고 다시 테스트합니다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221224"/>
            <a:ext cx="292608" cy="292608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282889"/>
            <a:ext cx="29260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0F6CBD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75504"/>
            <a:ext cx="4389120" cy="23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지식 원본이 제대로 검색되는지 출처 표기로 검증합니다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rocket-97eb5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74519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19385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6EC6FF"/>
                </a:solidFill>
                <a:latin typeface="Segoe UI"/>
              </a:rPr>
              <a:t>3.4 </a:t>
            </a:r>
            <a:r>
              <a:rPr lang="ko-KR" altLang="en-US" sz="1600" b="1">
                <a:solidFill>
                  <a:srgbClr val="6EC6FF"/>
                </a:solidFill>
                <a:latin typeface="Segoe UI"/>
              </a:rPr>
              <a:t>게시 </a:t>
            </a:r>
            <a:r>
              <a:rPr lang="en-US" altLang="ko-KR" sz="1600" b="1">
                <a:solidFill>
                  <a:srgbClr val="6EC6FF"/>
                </a:solidFill>
                <a:latin typeface="Segoe UI"/>
              </a:rPr>
              <a:t>&amp; </a:t>
            </a:r>
            <a:r>
              <a:rPr lang="ko-KR" altLang="en-US" sz="1600" b="1">
                <a:solidFill>
                  <a:srgbClr val="6EC6FF"/>
                </a:solidFill>
                <a:latin typeface="Segoe UI"/>
              </a:rPr>
              <a:t>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697480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770632"/>
            <a:ext cx="4297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게시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FFFFFF"/>
                </a:solidFill>
                <a:latin typeface="Segoe UI"/>
              </a:rPr>
              <a:t>Publish)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72384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C6D4E6"/>
                </a:solidFill>
                <a:latin typeface="Segoe UI"/>
              </a:rPr>
              <a:t>작성한 내용을 게시해야 실제 채널에 반영됩니다</a:t>
            </a:r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538728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4297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Microsoft 365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13632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Copilot </a:t>
            </a:r>
            <a:r>
              <a:rPr lang="ko-KR" altLang="en-US" sz="1100" b="0">
                <a:solidFill>
                  <a:srgbClr val="C6D4E6"/>
                </a:solidFill>
                <a:latin typeface="Segoe UI"/>
              </a:rPr>
              <a:t>채팅의 에이전트 목록에 추가해 사용합니다</a:t>
            </a:r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379976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4453128"/>
            <a:ext cx="4297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Segoe UI"/>
              </a:rPr>
              <a:t>Microsoft Teams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54880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Teams </a:t>
            </a:r>
            <a:r>
              <a:rPr lang="ko-KR" altLang="en-US" sz="1100" b="0">
                <a:solidFill>
                  <a:srgbClr val="C6D4E6"/>
                </a:solidFill>
                <a:latin typeface="Segoe UI"/>
              </a:rPr>
              <a:t>앱으로 배포해 대화 중 바로 호출합니다</a:t>
            </a:r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221224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5294376"/>
            <a:ext cx="4297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검토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596128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C6D4E6"/>
                </a:solidFill>
                <a:latin typeface="Segoe UI"/>
              </a:rPr>
              <a:t>조직 배포 시 관리자 승인 절차가 필요할 수 있습니다</a:t>
            </a:r>
            <a:r>
              <a:rPr lang="en-US" altLang="ko-KR" sz="11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03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선언형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17520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목적에 맞게 맞춤화한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Microsoft 365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구성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3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97180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지침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+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조직 지식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(grounding) +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도구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(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프롬프트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커넥터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373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93852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56032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왜 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97180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Agent Builder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보다 지식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도구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관리 측면에서 더 세밀함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프롬프트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2064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AI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프롬프트를 붙여 전문 작업 수행 능력을 확장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지침이 결정한다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12064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도구를 언제 부를지까지 지침으로 명확히 적어야 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886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4087368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709160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배포 채널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5120640"/>
            <a:ext cx="3017520" cy="459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150" b="0">
                <a:solidFill>
                  <a:srgbClr val="5A6270"/>
                </a:solidFill>
                <a:latin typeface="Segoe UI"/>
              </a:rPr>
              <a:t>M365 Copilot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과 </a:t>
            </a:r>
            <a:r>
              <a:rPr lang="en-US" sz="1150" b="0">
                <a:solidFill>
                  <a:srgbClr val="5A6270"/>
                </a:solidFill>
                <a:latin typeface="Segoe UI"/>
              </a:rPr>
              <a:t>Microsoft Teams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 게시해 사용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03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선언형 에이전트 배포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F6CBD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6126480" cy="531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에서 디바이스 문의에 답하는 선언형 에이전트를 만들고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, AI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프롬프트를 도구로 붙여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M365 Copilot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과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Teams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 배포합니다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9864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05388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3.1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선언형 에이전트를 생성하고 지침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지식을 구성한다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9475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728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5402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3.2 AI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프롬프트를 만들어 도구로 추가한다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4340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9592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02668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3.3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도구 호출 조건을 지침에 반영하고 테스트한다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920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44561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130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3.4 Microsoft 365 Copilot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 게시한다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4067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9320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0F6CBD"/>
                </a:solidFill>
                <a:latin typeface="Segoe UI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99947"/>
            <a:ext cx="576072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3.4 Microsoft Teams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에서 동작을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331720"/>
            <a:ext cx="3383280" cy="1188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코드네임  </a:t>
            </a:r>
            <a:r>
              <a:rPr lang="en-US" sz="1200" b="1">
                <a:solidFill>
                  <a:srgbClr val="FFFFFF"/>
                </a:solidFill>
                <a:latin typeface="Segoe UI"/>
              </a:rPr>
              <a:t>OPERATION COPILOT EXTENSION</a:t>
            </a:r>
          </a:p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소요 시간  약 </a:t>
            </a:r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60</a:t>
            </a: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분</a:t>
            </a:r>
          </a:p>
          <a:p>
            <a:pPr algn="l">
              <a:lnSpc>
                <a:spcPts val="2400"/>
              </a:lnSpc>
            </a:pPr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제품  </a:t>
            </a:r>
            <a:r>
              <a:rPr lang="en-US" sz="1200" b="1">
                <a:solidFill>
                  <a:srgbClr val="FFFFFF"/>
                </a:solidFill>
                <a:latin typeface="Segoe UI"/>
              </a:rPr>
              <a:t>Copilot Studio · M365 · Teams</a:t>
            </a:r>
          </a:p>
          <a:p>
            <a:pPr algn="l">
              <a:lnSpc>
                <a:spcPts val="2400"/>
              </a:lnSpc>
            </a:pPr>
            <a:r>
              <a:rPr lang="ko-KR" altLang="en-US" sz="1200" b="0">
                <a:solidFill>
                  <a:srgbClr val="9FB4CC"/>
                </a:solidFill>
                <a:latin typeface="Segoe UI"/>
              </a:rPr>
              <a:t>환경  </a:t>
            </a:r>
            <a:r>
              <a:rPr lang="en-US" sz="1200" b="0">
                <a:solidFill>
                  <a:srgbClr val="9FB4CC"/>
                </a:solidFill>
                <a:latin typeface="Segoe UI"/>
              </a:rPr>
              <a:t>Classic </a:t>
            </a:r>
            <a:r>
              <a:rPr lang="ko-KR" altLang="en-US" sz="1200" b="0">
                <a:solidFill>
                  <a:srgbClr val="9FB4CC"/>
                </a:solidFill>
                <a:latin typeface="Segoe UI"/>
              </a:rPr>
              <a:t>환경 기준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5B21B6"/>
                </a:solidFill>
                <a:latin typeface="Segoe UI"/>
              </a:rPr>
              <a:t>다음 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572000"/>
            <a:ext cx="3383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04 ·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솔루션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166360"/>
            <a:ext cx="3429000" cy="483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환경 간 관리와 배포를 위해 에이전트를 재사용 가능한 솔루션으로 패키징합니다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40080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에이전트를 위한
솔루션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603504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환경 간 관리와 배포를 위해 에이전트를
재사용 가능한 솔루션으로 패키징하기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1208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29437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1208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29437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45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12080"/>
            <a:ext cx="310896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294376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CTRL-ALT-PACKAGE</a:t>
            </a:r>
          </a:p>
        </p:txBody>
      </p:sp>
      <p:pic>
        <p:nvPicPr>
          <p:cNvPr id="13" name="Picture 12" descr="44ce87cdd9634f09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에이전트의 집을 짓다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8288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217920" cy="871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“솔루션은 에이전트와 관련 아티팩트를 담는 디지털 서류 가방입니다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1000"/>
              </a:spcBef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모든 에이전트에는 구조화된 집이 필요합니다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 Power Platform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솔루션이 정리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(order),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이동성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(portability),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운영 준비 상태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(readiness for production)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를 제공합니다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10565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Power Platform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솔루션이 무엇이며 에이전트 개발에서 어떤 역할을 하는지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52628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89704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솔루션으로 에이전트를 구성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배포할 때의 장점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946904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솔루션 게시자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(publisher)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와 컴포넌트 관리의 중요성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367528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30952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개발 → 테스트 → 운영으로 이어지는 솔루션 라이프사이클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788152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751576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IT Helpdesk Agent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용 사용자 지정 게시자와 솔루션 만들기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600200"/>
            <a:ext cx="3931920" cy="4297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box-b79c33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560320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Segoe UI"/>
              </a:rPr>
              <a:t>이번 미션의 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632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6EC6FF"/>
                </a:solidFill>
                <a:latin typeface="Segoe U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300984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사용자 지정 게시자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57016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조직을 식별하는 이름과 접두사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6EC6FF"/>
                </a:solidFill>
                <a:latin typeface="Segoe U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215383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사용자 지정 솔루션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471416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>
                <a:solidFill>
                  <a:srgbClr val="9CC4EE"/>
                </a:solidFill>
                <a:latin typeface="Segoe UI"/>
              </a:rPr>
              <a:t>IT Helpdesk Agent</a:t>
            </a:r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를 담는 컨테이너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920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6EC6FF"/>
                </a:solidFill>
                <a:latin typeface="Segoe U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29783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솔루션 내 에이전트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385816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 간 이동이 가능한 상태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989320"/>
            <a:ext cx="3931920" cy="91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솔루션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(Solution)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이란 무엇인가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앱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에이전트를 구성하는 모든 요소를 담는 컨테이너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(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패키지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731520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Microsoft Power Platform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에서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solution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은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tables, forms, flows, custom logic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등 구성 요소를 하나로 묶어 관리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이동할 수 있게 해주는 패키지입니다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645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645920" cy="73152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443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>
                <a:solidFill>
                  <a:srgbClr val="0A3D6B"/>
                </a:solidFill>
                <a:latin typeface="Segoe UI"/>
              </a:rP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데이터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651760"/>
            <a:ext cx="1645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31720" y="2651760"/>
            <a:ext cx="1645920" cy="73152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79" y="29443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>
                <a:solidFill>
                  <a:srgbClr val="0A3D6B"/>
                </a:solidFill>
                <a:latin typeface="Segoe UI"/>
              </a:rPr>
              <a:t>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4612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입력 화면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651760"/>
            <a:ext cx="1645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2651760"/>
            <a:ext cx="1645920" cy="73152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29443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>
                <a:solidFill>
                  <a:srgbClr val="0A3D6B"/>
                </a:solidFill>
                <a:latin typeface="Segoe UI"/>
              </a:rPr>
              <a:t>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4612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자동화 흐름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79" y="2651760"/>
            <a:ext cx="16459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97879" y="2651760"/>
            <a:ext cx="1645920" cy="73152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94436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>
                <a:solidFill>
                  <a:srgbClr val="0A3D6B"/>
                </a:solidFill>
                <a:latin typeface="Segoe UI"/>
              </a:rPr>
              <a:t>custom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324612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사용자 지정 로직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7132320" cy="96012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on-folder-921a4b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402336" cy="4023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63040" y="4114800"/>
            <a:ext cx="6035040" cy="704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350" b="1">
                <a:solidFill>
                  <a:srgbClr val="4A2E86"/>
                </a:solidFill>
                <a:latin typeface="Segoe UI"/>
              </a:rPr>
              <a:t>Copilot Studio</a:t>
            </a:r>
            <a:r>
              <a:rPr lang="ko-KR" altLang="en-US" sz="1350" b="1">
                <a:solidFill>
                  <a:srgbClr val="4A2E86"/>
                </a:solidFill>
                <a:latin typeface="Segoe UI"/>
              </a:rPr>
              <a:t>에서 만드는 모든 에이전트는 솔루션 안에 저장됩니다</a:t>
            </a:r>
            <a:r>
              <a:rPr lang="en-US" altLang="ko-KR" sz="1350" b="1">
                <a:solidFill>
                  <a:srgbClr val="4A2E86"/>
                </a:solidFill>
                <a:latin typeface="Segoe UI"/>
              </a:rPr>
              <a:t>.</a:t>
            </a:r>
          </a:p>
          <a:p>
            <a:pPr algn="l">
              <a:lnSpc>
                <a:spcPts val="19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기본값은 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Default solution — 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사용자 지정 솔루션을 만들면 그 안에서 에이전트를 구축할 수 있습니다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7132320" cy="1051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30368"/>
            <a:ext cx="6492240" cy="741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350" b="1">
                <a:solidFill>
                  <a:srgbClr val="6EC6FF"/>
                </a:solidFill>
                <a:latin typeface="Segoe UI"/>
              </a:rPr>
              <a:t>ALM(Application Lifecycle Management)</a:t>
            </a:r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의 핵심</a:t>
            </a:r>
          </a:p>
          <a:p>
            <a:pPr algn="l">
              <a:lnSpc>
                <a:spcPts val="2000"/>
              </a:lnSpc>
            </a:pPr>
            <a:r>
              <a:rPr lang="ko-KR" altLang="en-US" sz="1250" b="0">
                <a:solidFill>
                  <a:srgbClr val="D6E4F5"/>
                </a:solidFill>
                <a:latin typeface="Segoe UI"/>
              </a:rPr>
              <a:t>아이디어 → 개발 → 테스트 → 배포 → 업데이트까지 전체 수명 주기를 솔루션 단위로 관리합니다</a:t>
            </a:r>
            <a:r>
              <a:rPr lang="en-US" altLang="ko-KR" sz="12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pic>
        <p:nvPicPr>
          <p:cNvPr id="30" name="Picture 29" descr="44ce87cdd9634f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657600" cy="274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55279" y="4343400"/>
            <a:ext cx="3657600" cy="10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“디지털 서류 가방”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에이전트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지식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흐름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변수 등 관련 아티팩트를 한 가방에 담아 통째로 옮깁니다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가방이 없으면 부품을 하나씩 손으로 옮겨야 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WHY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왜 솔루션으로 관리해야 하나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38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n-box-b79c33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9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395728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정리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Order)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06624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에이전트와 관련 구성 요소를 한 곳에 모아 흩어짐 없이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554480"/>
            <a:ext cx="3538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70248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arrow-swap-3a75b1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874519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44568" y="2395728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이동성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Portability)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06624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export/import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로 개발 → 테스트 → 운영 환경 간 이동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554480"/>
            <a:ext cx="3538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91856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-cloud-arrow-up-6e4af8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1874519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66176" y="2395728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운영 준비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Readiness)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706624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버전 관리와 배포 파이프라인을 갖춘 상태로 릴리스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11064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솔루션 라이프사이클 </a:t>
            </a:r>
            <a:r>
              <a:rPr lang="en-US" altLang="ko-KR" sz="1500" b="1">
                <a:solidFill>
                  <a:srgbClr val="0F6CBD"/>
                </a:solidFill>
                <a:latin typeface="Segoe UI"/>
              </a:rPr>
              <a:t>· </a:t>
            </a:r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개발에서 운영까지</a:t>
            </a:r>
          </a:p>
        </p:txBody>
      </p:sp>
      <p:pic>
        <p:nvPicPr>
          <p:cNvPr id="22" name="Picture 21" descr="24347244e80a454a.jpg"/>
          <p:cNvPicPr>
            <a:picLocks noChangeAspect="1"/>
          </p:cNvPicPr>
          <p:nvPr/>
        </p:nvPicPr>
        <p:blipFill>
          <a:blip r:embed="rId5"/>
          <a:srcRect t="17197" b="17197"/>
          <a:stretch>
            <a:fillRect/>
          </a:stretch>
        </p:blipFill>
        <p:spPr>
          <a:xfrm>
            <a:off x="548640" y="3931920"/>
            <a:ext cx="5943600" cy="219456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766560" y="3931920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986783"/>
            <a:ext cx="3108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931920"/>
            <a:ext cx="4297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개발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Dev)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206240"/>
            <a:ext cx="434340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솔루션 안에서 에이전트를 만들고 구성 요소를 추가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681728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4736592"/>
            <a:ext cx="3108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681728"/>
            <a:ext cx="4297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테스트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Test)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956048"/>
            <a:ext cx="434340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솔루션을 내보내 테스트 환경으로 가져와 검증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5431536"/>
            <a:ext cx="310896" cy="31089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5486399"/>
            <a:ext cx="3108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431536"/>
            <a:ext cx="4297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운영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Prod)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705855"/>
            <a:ext cx="434340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검증된 솔루션을 운영 환경에 배포하고 버전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COPILOT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A3D6B"/>
                </a:solidFill>
                <a:latin typeface="Segoe UI"/>
              </a:rPr>
              <a:t>Solution Explorer · Copilot Studio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안에서 솔루션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332720" cy="465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전통적으로 솔루션은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Power Apps maker portal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에서 만들었습니다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  <a:p>
            <a:pPr algn="l">
              <a:lnSpc>
                <a:spcPts val="1900"/>
              </a:lnSpc>
            </a:pP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이제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의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Solution Explorer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로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포털을 오가지 않고 솔루션 작업을 바로 처리할 수 있습니다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91440" cy="141732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folder-921a4b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4206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862072"/>
            <a:ext cx="4206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새 솔루션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09544"/>
            <a:ext cx="420624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사용자 지정 솔루션을 만들면 에이전트를 환경 간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export/import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할 수 있습니다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060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2606040"/>
            <a:ext cx="91440" cy="141732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checkmark-circle-ff7d17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880360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0" y="2862072"/>
            <a:ext cx="4206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기본 솔루션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209544"/>
            <a:ext cx="420624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agents, apps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등이 기본으로 생성될 솔루션을 지정합니다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91440" cy="141732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box-b79c33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59"/>
            <a:ext cx="420624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4462272"/>
            <a:ext cx="4206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구성 요소 추가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/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09744"/>
            <a:ext cx="420624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environment variables, cloud flows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같은 참조 구성 요소를 같은 솔루션에 포함합니다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2062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72200" y="4206240"/>
            <a:ext cx="91440" cy="141732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-cloud-arrow-up-6e4af8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480559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2320" y="4462272"/>
            <a:ext cx="4206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솔루션 내보내기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09744"/>
            <a:ext cx="420624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패키지로 내보내 다른 대상 환경으로 이동합니다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916168"/>
            <a:ext cx="103327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TIP ·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이 미션은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classic experience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기준입니다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화면이 다르면 오른쪽 위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New Experience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를 끄세요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PUBLISHER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솔루션 게시자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(Publisher)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와 접두사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949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organization-3b2067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810512"/>
            <a:ext cx="5669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게시자는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누가 이 구성 요소를 만들었는가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를 나타냅니다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630936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모든 솔루션은 게시자에 연결됩니다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게시자는 조직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또는 팀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)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을 식별하고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솔루션 안에서 만들어지는 모든 구성 요소에 고유한 이름을 부여하는 기준이 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785615"/>
            <a:ext cx="25603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표시 이름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Display 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03904"/>
            <a:ext cx="37490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사람이 읽는 게시자 이름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—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예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: Contoso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61688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3"/>
            <a:ext cx="25603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이름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462272"/>
            <a:ext cx="37490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시스템 내부에서 사용하는 고유 이름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0056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25603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접두사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Prefix)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120640"/>
            <a:ext cx="37490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구성 요소 이름 앞에 붙는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2~8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자 식별자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—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예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: contoso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78424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760720"/>
            <a:ext cx="25603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옵션 값 접두사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779008"/>
            <a:ext cx="37490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선택 항목 값에 사용되는 숫자 접두사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554480"/>
            <a:ext cx="3886200" cy="47091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-tag-194ce3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6720" y="2450592"/>
            <a:ext cx="32918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접두사가 중요한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926080"/>
            <a:ext cx="3291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이름 충돌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200400"/>
            <a:ext cx="31546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9CC4EE"/>
                </a:solidFill>
                <a:latin typeface="Segoe UI"/>
              </a:rPr>
              <a:t>여러 팀이 같은 환경에서 작업해도 구성 요소 이름이 겹치지 않습니다</a:t>
            </a:r>
            <a:r>
              <a:rPr lang="en-US" altLang="ko-KR" sz="115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77639"/>
            <a:ext cx="3291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소유권 식별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51959"/>
            <a:ext cx="31546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9CC4EE"/>
                </a:solidFill>
                <a:latin typeface="Segoe UI"/>
              </a:rPr>
              <a:t>contoso_ </a:t>
            </a:r>
            <a:r>
              <a:rPr lang="ko-KR" altLang="en-US" sz="1150" b="0">
                <a:solidFill>
                  <a:srgbClr val="9CC4EE"/>
                </a:solidFill>
                <a:latin typeface="Segoe UI"/>
              </a:rPr>
              <a:t>로 시작하는 항목은 우리 팀 자산임을 한눈에 알 수 있습니다</a:t>
            </a:r>
            <a:r>
              <a:rPr lang="en-US" altLang="ko-KR" sz="115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029200"/>
            <a:ext cx="3291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Segoe UI"/>
              </a:rPr>
              <a:t>나중에 변경 불가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303520"/>
            <a:ext cx="31546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9CC4EE"/>
                </a:solidFill>
                <a:latin typeface="Segoe UI"/>
              </a:rPr>
              <a:t>솔루션 생성 후 게시자</a:t>
            </a:r>
            <a:r>
              <a:rPr lang="en-US" altLang="ko-KR" sz="115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9CC4EE"/>
                </a:solidFill>
                <a:latin typeface="Segoe UI"/>
              </a:rPr>
              <a:t>접두사를 바꾸기 어렵기 때문에 처음부터 신중히 정합니다</a:t>
            </a:r>
            <a:r>
              <a:rPr lang="en-US" altLang="ko-KR" sz="115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기본 솔루션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vs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사용자 지정 솔루션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91440"/>
          </a:xfrm>
          <a:prstGeom prst="roundRect">
            <a:avLst>
              <a:gd name="adj" fmla="val 30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9AA1AC"/>
                </a:solidFill>
                <a:latin typeface="Segoe UI"/>
              </a:rPr>
              <a:t>Default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900" b="1">
                <a:solidFill>
                  <a:srgbClr val="5A6270"/>
                </a:solidFill>
                <a:latin typeface="Segoe UI"/>
              </a:rPr>
              <a:t>기본 솔루션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752344"/>
            <a:ext cx="146304" cy="146304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697480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에이전트를 만들면 자동으로 저장되는 곳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9272"/>
            <a:ext cx="146304" cy="146304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264408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별도 설정 없이 바로 사용 가능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886200"/>
            <a:ext cx="146304" cy="146304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831336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환경 간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export/import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 적합하지 않음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453128"/>
            <a:ext cx="146304" cy="146304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398264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구성 요소가 뒤섞여 관리가 어려움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020055"/>
            <a:ext cx="146304" cy="146304"/>
          </a:xfrm>
          <a:prstGeom prst="ellipse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965192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게시자는 기본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(Default)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게시자로 고정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5448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440680" cy="9144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828800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8B5CF6"/>
                </a:solidFill>
                <a:latin typeface="Segoe UI"/>
              </a:rPr>
              <a:t>Custom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03120"/>
            <a:ext cx="46634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900" b="1">
                <a:solidFill>
                  <a:srgbClr val="0A3D6B"/>
                </a:solidFill>
                <a:latin typeface="Segoe UI"/>
              </a:rPr>
              <a:t>사용자 지정 솔루션</a:t>
            </a:r>
          </a:p>
        </p:txBody>
      </p:sp>
      <p:sp>
        <p:nvSpPr>
          <p:cNvPr id="24" name="Oval 23"/>
          <p:cNvSpPr/>
          <p:nvPr/>
        </p:nvSpPr>
        <p:spPr>
          <a:xfrm>
            <a:off x="6556248" y="2752344"/>
            <a:ext cx="146304" cy="146304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2697480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직접 만들어 이름과 게시자를 지정</a:t>
            </a:r>
          </a:p>
        </p:txBody>
      </p:sp>
      <p:sp>
        <p:nvSpPr>
          <p:cNvPr id="26" name="Oval 25"/>
          <p:cNvSpPr/>
          <p:nvPr/>
        </p:nvSpPr>
        <p:spPr>
          <a:xfrm>
            <a:off x="6556248" y="3319272"/>
            <a:ext cx="146304" cy="146304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264408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에이전트와 관련 구성 요소만 모아 관리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886200"/>
            <a:ext cx="146304" cy="146304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3831336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export/import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로 환경 간 이동 가능</a:t>
            </a:r>
          </a:p>
        </p:txBody>
      </p:sp>
      <p:sp>
        <p:nvSpPr>
          <p:cNvPr id="30" name="Oval 29"/>
          <p:cNvSpPr/>
          <p:nvPr/>
        </p:nvSpPr>
        <p:spPr>
          <a:xfrm>
            <a:off x="6556248" y="4453128"/>
            <a:ext cx="146304" cy="146304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398264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ALM·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버전 관리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배포 파이프라인에 적합</a:t>
            </a:r>
          </a:p>
        </p:txBody>
      </p:sp>
      <p:sp>
        <p:nvSpPr>
          <p:cNvPr id="32" name="Oval 31"/>
          <p:cNvSpPr/>
          <p:nvPr/>
        </p:nvSpPr>
        <p:spPr>
          <a:xfrm>
            <a:off x="6556248" y="5020055"/>
            <a:ext cx="146304" cy="146304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4965192"/>
            <a:ext cx="443484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우리 조직 접두사가 구성 요소에 적용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43600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6025896"/>
            <a:ext cx="103327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실무 권장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·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운영으로 갈 에이전트라면 처음부터 사용자 지정 솔루션 안에서 만드세요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HOW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구축 흐름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게시자 만들고 솔루션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9144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38528"/>
            <a:ext cx="3657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솔루션 게시자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0604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Copilot Studio → Solutions →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새 솔루션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10896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게시자 영역에서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'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새 게시자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'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61188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표시 이름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/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이름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/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접두사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11480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조직을 대표하는 짧은 접두사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1772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0F6CBD"/>
                </a:solidFill>
                <a:latin typeface="Segoe U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61772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저장 후 게시자 목록에서 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5448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440680" cy="914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828800"/>
            <a:ext cx="1097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4.2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938528"/>
            <a:ext cx="3657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새 솔루션 만들기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0604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8B5CF6"/>
                </a:solidFill>
                <a:latin typeface="Segoe UI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0604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표시 이름 입력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예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: </a:t>
            </a:r>
            <a:r>
              <a:rPr lang="en-US" sz="1250" b="0">
                <a:solidFill>
                  <a:srgbClr val="1B1B1F"/>
                </a:solidFill>
                <a:latin typeface="Segoe UI"/>
              </a:rPr>
              <a:t>IT Helpdesk Agent)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6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8B5CF6"/>
                </a:solidFill>
                <a:latin typeface="Segoe U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10896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앞서 만든 게시자 선택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1188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8B5CF6"/>
                </a:solidFill>
                <a:latin typeface="Segoe U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61188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버전 번호 확인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예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: 1.0.0.0)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11480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8B5CF6"/>
                </a:solidFill>
                <a:latin typeface="Segoe U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11480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만들기 → 솔루션 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17720"/>
            <a:ext cx="3657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900" b="0">
                <a:solidFill>
                  <a:srgbClr val="8B5CF6"/>
                </a:solidFill>
                <a:latin typeface="Segoe U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61772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에이전트를 이 솔루션 안에서 생성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/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추가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-checkmark-circle-ff7d17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23560"/>
            <a:ext cx="402336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63040" y="5605272"/>
            <a:ext cx="1005840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1">
                <a:solidFill>
                  <a:srgbClr val="6EC6FF"/>
                </a:solidFill>
                <a:latin typeface="Segoe UI"/>
              </a:rPr>
              <a:t>완료 기준</a:t>
            </a:r>
          </a:p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D6E4F5"/>
                </a:solidFill>
                <a:latin typeface="Segoe UI"/>
              </a:rPr>
              <a:t>솔루션 목록에 내가 만든 솔루션이 보이고</a:t>
            </a:r>
            <a:r>
              <a:rPr lang="en-US" altLang="ko-KR" sz="1250" b="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D6E4F5"/>
                </a:solidFill>
                <a:latin typeface="Segoe UI"/>
              </a:rPr>
              <a:t>그 안에서 </a:t>
            </a:r>
            <a:r>
              <a:rPr lang="en-US" altLang="ko-KR" sz="1250" b="0">
                <a:solidFill>
                  <a:srgbClr val="D6E4F5"/>
                </a:solidFill>
                <a:latin typeface="Segoe UI"/>
              </a:rPr>
              <a:t>IT Helpdesk Agent</a:t>
            </a:r>
            <a:r>
              <a:rPr lang="ko-KR" altLang="en-US" sz="1250" b="0">
                <a:solidFill>
                  <a:srgbClr val="D6E4F5"/>
                </a:solidFill>
                <a:latin typeface="Segoe UI"/>
              </a:rPr>
              <a:t>를 열 수 있으면 성공입니다</a:t>
            </a:r>
            <a:r>
              <a:rPr lang="en-US" altLang="ko-KR" sz="12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04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솔루션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컨테이너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앱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에이전트를 구성하는 모든 요소를 담는 패키지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ALM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의 기본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아이디어부터 개발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테스트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배포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업데이트까지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기본은 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별도 지정이 없으면 에이전트는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Default solution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게시자와 접두사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조직을 식별하고 구성 요소 이름 충돌을 방지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Solution Explorer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Copilot Studio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안에서 생성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기본 설정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추가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내보내기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환경 간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export/import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로 개발 → 테스트 → 운영으로 승격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04 · IT Helpdesk Agent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용 솔루션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Copilot Studio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에서 조직 전용 게시자를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그 게시자로 사용자 지정 솔루션을 만들어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IT Helpdesk Agent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담습니다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0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에서 </a:t>
            </a:r>
            <a:r>
              <a:rPr lang="en-US" sz="1300" b="0">
                <a:solidFill>
                  <a:srgbClr val="1B1B1F"/>
                </a:solidFill>
                <a:latin typeface="Segoe UI"/>
              </a:rPr>
              <a:t>Solutions(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솔루션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)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영역 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새 게시자 만들기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—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표시 이름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/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이름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/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접두사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새 솔루션 만들기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—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이름과 게시자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버전 지정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만든 솔루션 안에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IT Helpdesk Agent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추가 또는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솔루션 구성 요소 목록에서 에이전트가 보이는지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OPERATION CTRL-ALT-PACKAGE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45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Copilot Studio · Power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87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17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700" b="1">
                <a:solidFill>
                  <a:srgbClr val="4A2E86"/>
                </a:solidFill>
                <a:latin typeface="Segoe UI"/>
              </a:rPr>
              <a:t>05 · </a:t>
            </a:r>
            <a:r>
              <a:rPr lang="ko-KR" altLang="en-US" sz="1700" b="1">
                <a:solidFill>
                  <a:srgbClr val="4A2E86"/>
                </a:solidFill>
                <a:latin typeface="Segoe UI"/>
              </a:rPr>
              <a:t>사전 구축
에이전트 활용하기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25780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템플릿 에이전트를 사용하고 사용자 지정해 더 빠르게 시작하는 방법을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40080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사전 구축 에이전트
활용하기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603504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Microsoft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가 만든 에이전트 템플릿을 배포하고
우리 조직에 맞게 사용자 지정하기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1208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29437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1208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29437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30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12080"/>
            <a:ext cx="27432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294376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SAFE TRAVELS</a:t>
            </a:r>
          </a:p>
        </p:txBody>
      </p:sp>
      <p:pic>
        <p:nvPicPr>
          <p:cNvPr id="13" name="Picture 12" descr="5266eac1660643ac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새로운 요구사항이 도착했다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9659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6217920" cy="1100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Contoso IT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헬프데스크 에이전트를 준비하는 중에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직원들의 출장 준비와 출장 정책 안내 요청이 들어왔습니다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800"/>
              </a:spcBef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직원 지원이라는 점은 같지만 목적과 지식 도메인이 분명히 다릅니다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IT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에이전트의 범위를 넓히는 대신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출장 시나리오는 전용 에이전트에 맡깁니다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25195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사전 구축 에이전트가 일반적인 업무 시나리오를 가속하는 이유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0915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Safe Travels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에이전트 템플릿을 배포하는 방법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16635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에이전트의 지식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(knowledge)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을 사용자 지정하는 방법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62355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6492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사전 구축 에이전트를 테스트하고 게시하는 방법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-airplane-18b23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0" y="2560320"/>
            <a:ext cx="3291840" cy="53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에이전트 하나에
하나의 책임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83280"/>
            <a:ext cx="329184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하나의 에이전트에 모든 업무를 몰아넣으면 지침이 흐려지고 답변 품질이 떨어집니다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목적이 다르면 에이전트를 나누세요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480560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4617720"/>
            <a:ext cx="2743200" cy="38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IT 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헬프데스크 에이전트</a:t>
            </a:r>
          </a:p>
          <a:p>
            <a:pPr algn="l">
              <a:lnSpc>
                <a:spcPts val="1600"/>
              </a:lnSpc>
            </a:pPr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장비</a:t>
            </a:r>
            <a:r>
              <a:rPr lang="en-US" altLang="ko-KR" sz="105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계정</a:t>
            </a:r>
            <a:r>
              <a:rPr lang="en-US" altLang="ko-KR" sz="105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기술 지원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5394960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3E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5513832"/>
            <a:ext cx="2743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Safe Travels · 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출장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사전 구축 에이전트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Pre-built Agent)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Microsoft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가 목적에 맞게 미리 만들어 둔 지능형 에이전트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 템플릿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22376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처음부터 만드는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(build from scratch)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대신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바로 쓸 수 있는 시나리오를 제공해 몇 분 만에 사용자 지정하고 배포할 수 있게 해 줍니다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52044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3017520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3035808"/>
            <a:ext cx="2560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배포 가속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일반적인 업무 시나리오를 즉시 커버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74320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1959" y="2743200"/>
            <a:ext cx="352044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clock-5ca44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3017520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4920" y="3035808"/>
            <a:ext cx="2560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가치 실현 시간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520440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설계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구성 시간을 크게 줄임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352044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puzzle-cube-piece-3d2704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4480559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98848"/>
            <a:ext cx="2560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검증된 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83479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토픽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지식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지침이 이미 구성된 상태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420624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51959" y="4206240"/>
            <a:ext cx="352044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-edit-632852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79" y="4480559"/>
            <a:ext cx="402336" cy="402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4920" y="4498848"/>
            <a:ext cx="25603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사용자 지정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983479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우리 조직 정책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데이터로 바꿔 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7223760" cy="6858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66751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4A2E86"/>
                </a:solidFill>
                <a:latin typeface="Segoe UI"/>
              </a:rPr>
              <a:t>직접 만들 것인가</a:t>
            </a:r>
            <a:r>
              <a:rPr lang="en-US" altLang="ko-KR" sz="1250" b="1">
                <a:solidFill>
                  <a:srgbClr val="4A2E86"/>
                </a:solidFill>
                <a:latin typeface="Segoe UI"/>
              </a:rPr>
              <a:t>, </a:t>
            </a:r>
            <a:r>
              <a:rPr lang="ko-KR" altLang="en-US" sz="1250" b="1">
                <a:solidFill>
                  <a:srgbClr val="4A2E86"/>
                </a:solidFill>
                <a:latin typeface="Segoe UI"/>
              </a:rPr>
              <a:t>템플릿을 쓸 것인가 </a:t>
            </a:r>
            <a:r>
              <a:rPr lang="en-US" altLang="ko-KR" sz="1250" b="1">
                <a:solidFill>
                  <a:srgbClr val="4A2E86"/>
                </a:solidFill>
                <a:latin typeface="Segoe UI"/>
              </a:rPr>
              <a:t>— </a:t>
            </a:r>
            <a:r>
              <a:rPr lang="ko-KR" altLang="en-US" sz="1250" b="1">
                <a:solidFill>
                  <a:srgbClr val="4A2E86"/>
                </a:solidFill>
                <a:latin typeface="Segoe UI"/>
              </a:rPr>
              <a:t>요구가 표준적일수록 템플릿이 정답입니다</a:t>
            </a:r>
            <a:r>
              <a:rPr lang="en-US" altLang="ko-KR" sz="125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pic>
        <p:nvPicPr>
          <p:cNvPr id="30" name="Picture 29" descr="3d802aa771074c54.jpg"/>
          <p:cNvPicPr>
            <a:picLocks noChangeAspect="1"/>
          </p:cNvPicPr>
          <p:nvPr/>
        </p:nvPicPr>
        <p:blipFill>
          <a:blip r:embed="rId6"/>
          <a:srcRect t="427" b="427"/>
          <a:stretch>
            <a:fillRect/>
          </a:stretch>
        </p:blipFill>
        <p:spPr>
          <a:xfrm>
            <a:off x="8046720" y="1463040"/>
            <a:ext cx="3566160" cy="2651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46720" y="4251960"/>
            <a:ext cx="3566160" cy="10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빠른 시작의 흐름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템플릿 선택 → 만들기 → 지식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지침 조정 → 테스트 → 게시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새로 설계할 부분은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우리 조직에 다른 부분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뿐입니다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Safe Travels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 살펴보기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airplane-18b23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828800"/>
            <a:ext cx="5760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50" b="1">
                <a:solidFill>
                  <a:srgbClr val="0A3D6B"/>
                </a:solidFill>
                <a:latin typeface="Segoe UI"/>
              </a:rPr>
              <a:t>출장 준비와 출장 정책 안내를 담당하는 템플릿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630936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직원이 출장을 준비할 때 필요한 정보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—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여행 정책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준비 사항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안전 안내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—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대화로 제공합니다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이번 미션에서는 이 템플릿을 배포해 새로운 요구를 빠르게 충족합니다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6949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직원이 물어볼 법한 질문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59"/>
            <a:ext cx="3931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“출장 정책이 어떻게 되나요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79392"/>
            <a:ext cx="6309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조직의 출장 정책 문서를 근거로 답변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3931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“다음 주 도쿄 출장 준비물은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10912"/>
            <a:ext cx="6309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목적지 기준 준비 사항 안내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6949440" cy="64008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3931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“출장 전 승인 절차는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42432"/>
            <a:ext cx="6309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사내 절차와 담당자 안내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554480"/>
            <a:ext cx="3886200" cy="45262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20" y="2450592"/>
            <a:ext cx="3291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지식</a:t>
            </a:r>
            <a:r>
              <a:rPr lang="en-US" altLang="ko-KR" sz="145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450" b="1">
                <a:solidFill>
                  <a:srgbClr val="6EC6FF"/>
                </a:solidFill>
                <a:latin typeface="Segoe UI"/>
              </a:rPr>
              <a:t>Knowledge) </a:t>
            </a:r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사용자 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880360"/>
            <a:ext cx="329184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템플릿의 기본 지식만으로는 우리 회사 정책을 답할 수 없습니다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조직의 실제 문서를 지식으로 연결해야 정확한 답이 나옵니다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8620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886200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출장 정책 문서 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16552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416552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불필요한 기본 지식 원본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946904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46904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에이전트 이름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설명을 조직에 맞게 수정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477256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477256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지침에 회사 고유 규칙 반영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HOW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구축 흐름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5.1 → 5.4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2103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2148840" cy="23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50" b="1">
                <a:solidFill>
                  <a:srgbClr val="0A3D6B"/>
                </a:solidFill>
                <a:latin typeface="Segoe UI"/>
              </a:rPr>
              <a:t>Copilot Studio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2148840" cy="63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환경을 확인하고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Copilot Studio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 로그인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이번 미션은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classic experience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기준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8346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60020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1568" y="16002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8" y="1874519"/>
            <a:ext cx="2103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606040"/>
            <a:ext cx="2148840" cy="23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50" b="1">
                <a:solidFill>
                  <a:srgbClr val="0A3D6B"/>
                </a:solidFill>
                <a:latin typeface="Segoe UI"/>
              </a:rPr>
              <a:t>Safe Travels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템플릿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33756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 템플릿 갤러리에서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Safe Travels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를 찾아 만들기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60020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54496" y="16002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1874519"/>
            <a:ext cx="2103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5.3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06040"/>
            <a:ext cx="2148840" cy="23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에이전트 사용자 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33756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설명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지침을 다듬고 조직 문서를 지식으로 연결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8346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60020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07424" y="16002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81744" y="1874519"/>
            <a:ext cx="2103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C7DAF0"/>
                </a:solidFill>
                <a:latin typeface="Segoe UI"/>
              </a:rPr>
              <a:t>5.4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606040"/>
            <a:ext cx="2148840" cy="23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테스트 후 게시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33756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테스트 창에서 응답을 확인하고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Teams/M365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 게시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6344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402336" cy="402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63040" y="4873752"/>
            <a:ext cx="4297680" cy="898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테스트에서 확인할 것</a:t>
            </a:r>
          </a:p>
          <a:p>
            <a:pPr algn="l">
              <a:lnSpc>
                <a:spcPts val="1800"/>
              </a:lnSpc>
            </a:pP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연결한 우리 문서를 근거로 답하는가
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범위를 벗어난 질문에 선을 긋는가
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인용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출처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 함께 표시되는가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66344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892040"/>
            <a:ext cx="402336" cy="402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32320" y="4873752"/>
            <a:ext cx="4206240" cy="898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1">
                <a:solidFill>
                  <a:srgbClr val="4A2E86"/>
                </a:solidFill>
                <a:latin typeface="Segoe UI"/>
              </a:rPr>
              <a:t>게시</a:t>
            </a:r>
            <a:r>
              <a:rPr lang="en-US" altLang="ko-KR" sz="1300" b="1">
                <a:solidFill>
                  <a:srgbClr val="4A2E86"/>
                </a:solidFill>
                <a:latin typeface="Segoe UI"/>
              </a:rPr>
              <a:t>(Publish) </a:t>
            </a:r>
            <a:r>
              <a:rPr lang="ko-KR" altLang="en-US" sz="1300" b="1">
                <a:solidFill>
                  <a:srgbClr val="4A2E86"/>
                </a:solidFill>
                <a:latin typeface="Segoe UI"/>
              </a:rPr>
              <a:t>후 배포</a:t>
            </a:r>
          </a:p>
          <a:p>
            <a:pPr algn="l">
              <a:lnSpc>
                <a:spcPts val="1800"/>
              </a:lnSpc>
            </a:pPr>
            <a:r>
              <a:rPr lang="en-US" altLang="ko-KR" sz="1150" b="0">
                <a:solidFill>
                  <a:srgbClr val="6B5AA0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6B5AA0"/>
                </a:solidFill>
                <a:latin typeface="Segoe UI"/>
              </a:rPr>
              <a:t>게시해야 변경 사항이 사용자에게 반영
</a:t>
            </a:r>
            <a:r>
              <a:rPr lang="en-US" altLang="ko-KR" sz="1150" b="0">
                <a:solidFill>
                  <a:srgbClr val="6B5AA0"/>
                </a:solidFill>
                <a:latin typeface="Segoe UI"/>
              </a:rPr>
              <a:t>· Microsoft Teams </a:t>
            </a:r>
            <a:r>
              <a:rPr lang="ko-KR" altLang="en-US" sz="1150" b="0">
                <a:solidFill>
                  <a:srgbClr val="6B5AA0"/>
                </a:solidFill>
                <a:latin typeface="Segoe UI"/>
              </a:rPr>
              <a:t>채널에 연결해 배포
</a:t>
            </a:r>
            <a:r>
              <a:rPr lang="en-US" altLang="ko-KR" sz="1150" b="0">
                <a:solidFill>
                  <a:srgbClr val="6B5AA0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6B5AA0"/>
                </a:solidFill>
                <a:latin typeface="Segoe UI"/>
              </a:rPr>
              <a:t>직원이 바로 대화할 수 있는 상태로 공개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05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사전 구축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Microsoft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가 만든 목적 기반 에이전트 템플릿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속도가 강점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처음부터 만들지 않고 몇 분 만에 배포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Safe Travels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출장 준비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정책 안내를 담당하는 템플릿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책임 분리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헬프데스크와 출장 지원은 별도 에이전트로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지식 사용자 지정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우리 조직 문서를 연결해야 정확한 답변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테스트 후 게시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검증하고 게시해야 사용자에게 반영됨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05 · Safe Travels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 배포하기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Safe Travels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템플릿으로 출장 지원 에이전트를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조직 지식으로 사용자 지정한 뒤 테스트하고 게시합니다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00" b="0">
                <a:solidFill>
                  <a:srgbClr val="1B1B1F"/>
                </a:solidFill>
                <a:latin typeface="Segoe UI"/>
              </a:rPr>
              <a:t>Copilot Studio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실행 후 환경 확인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(</a:t>
            </a:r>
            <a:r>
              <a:rPr lang="en-US" sz="1300" b="0">
                <a:solidFill>
                  <a:srgbClr val="1B1B1F"/>
                </a:solidFill>
                <a:latin typeface="Segoe UI"/>
              </a:rPr>
              <a:t>classic experience)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에이전트 템플릿에서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Safe Travels 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선택해 만들기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에이전트 이름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설명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지침을 조직에 맞게 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출장 정책 문서를 지식으로 추가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/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10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테스트 창에서 응답 확인 후 게시하고 </a:t>
            </a:r>
            <a:r>
              <a:rPr lang="en-US" altLang="ko-KR" sz="1300" b="0">
                <a:solidFill>
                  <a:srgbClr val="1B1B1F"/>
                </a:solidFill>
                <a:latin typeface="Segoe UI"/>
              </a:rPr>
              <a:t>Teams</a:t>
            </a:r>
            <a:r>
              <a:rPr lang="ko-KR" altLang="en-US" sz="1300" b="0">
                <a:solidFill>
                  <a:srgbClr val="1B1B1F"/>
                </a:solidFill>
                <a:latin typeface="Segoe UI"/>
              </a:rPr>
              <a:t>에 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OPERATION SAFE TRAVELS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30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Copilot Studio · M365 · Teams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6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4A2E86"/>
                </a:solidFill>
                <a:latin typeface="Segoe UI"/>
              </a:rPr>
              <a:t>06 · </a:t>
            </a: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자연어로
커스텀 에이전트 만들기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0352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대화만으로 에이전트를 만들고 우리 데이터로 그라운딩하는 방법을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58368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자연어로 만드는
커스텀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21792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AI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와 자연어 프롬프트만으로 에이전트를 만들고
우리 데이터로 그라운딩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(grounding)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4009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4009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75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265176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40096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AGENT FORGE</a:t>
            </a:r>
          </a:p>
        </p:txBody>
      </p:sp>
      <p:pic>
        <p:nvPicPr>
          <p:cNvPr id="13" name="Picture 12" descr="9b1951b4d4e0400f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에이전트를 직접 벼려내다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20574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6217920" cy="1100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에서 가장 강력한 기능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—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오직 자연어만으로 에이전트를 처음부터 만들고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내 데이터로 강화합니다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800"/>
              </a:spcBef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단순한 챗봇이 아니라 추론하고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답하고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실제 기업 정보를 참조하는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지식을 갖춘 디지털 동료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(knowledge empowered digital coworker)'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만듭니다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33425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커스텀 에이전트란 무엇이고 사전 구축 템플릿과 무엇이 다른가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5488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AI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와 자연어 프롬프트로 에이전트를 만드는 방법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175504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SharePoint·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문서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웹사이트 등 엔터프라이즈 지식으로 그라운딩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596128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559552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생성형 오케스트레이션이 여러 데이터 원본을 동적으로 탐색하는 원리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6016752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80176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내 데이터로 답하는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IT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헬프데스크 에이전트 구축 및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chat-sparkle-128f22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560320"/>
            <a:ext cx="3291840" cy="53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이번 미션의 무기
</a:t>
            </a:r>
            <a:r>
              <a:rPr lang="en-US" altLang="ko-KR" sz="1600" b="1">
                <a:solidFill>
                  <a:srgbClr val="FFFFFF"/>
                </a:solidFill>
                <a:latin typeface="Segoe UI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자연어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329184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“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헬프데스크를 돕는 에이전트를 만들어줘” 라고 쓰면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, Copilot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이 이름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설명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지침 초안을 만들어 줍니다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389120"/>
            <a:ext cx="3200400" cy="1463040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4526280"/>
            <a:ext cx="2743200" cy="850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00" b="1">
                <a:solidFill>
                  <a:srgbClr val="6EC6FF"/>
                </a:solidFill>
                <a:latin typeface="Segoe UI"/>
              </a:rPr>
              <a:t>결과물</a:t>
            </a:r>
          </a:p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SharePoint·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업로드 파일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회사 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URL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을 근거로 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IT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질문에 답하는 완전한 커스텀 헬프데스크 에이전트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커스텀 에이전트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(Custom Agent)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Copilot Studio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에서 직접 만들고 설계하는 챗봇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가상 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22376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특정 업무나 질문을 돕도록 내가 목적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지침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지식을 정의합니다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템플릿이 주는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기성복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이 아니라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우리 조직에 맞춘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맞춤복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24528" y="2743200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사전 구축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(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템플릿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) 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에이전트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862072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커스텀 에이전트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24528" y="3310128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1">
                <a:solidFill>
                  <a:srgbClr val="5A6270"/>
                </a:solidFill>
                <a:latin typeface="Segoe UI"/>
              </a:rPr>
              <a:t>Microsoft</a:t>
            </a:r>
            <a:r>
              <a:rPr lang="ko-KR" altLang="en-US" sz="1150" b="1">
                <a:solidFill>
                  <a:srgbClr val="5A6270"/>
                </a:solidFill>
                <a:latin typeface="Segoe UI"/>
              </a:rPr>
              <a:t>가 정의한 시나리오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429000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내가 목적과 범위를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24528" y="3877056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5A6270"/>
                </a:solidFill>
                <a:latin typeface="Segoe UI"/>
              </a:rPr>
              <a:t>빠른 배포가 최우선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995928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우리 업무에 정확히 맞춤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24528" y="4443983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62855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5A6270"/>
                </a:solidFill>
                <a:latin typeface="Segoe UI"/>
              </a:rPr>
              <a:t>기본 지식 위에 약간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562855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처음부터 지식 원본을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24528" y="5010912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2978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5A6270"/>
                </a:solidFill>
                <a:latin typeface="Segoe UI"/>
              </a:rPr>
              <a:t>표준적인 요구에 적합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512978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고유한 업무 규칙에 적합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7223760" cy="6858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6675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핵심 차이 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— 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지식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(Knowledge)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을 누가 정의하는가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 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커스텀 에이전트는 우리 데이터가 곧 답변 품질입니다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pic>
        <p:nvPicPr>
          <p:cNvPr id="30" name="Picture 29" descr="9b1951b4d4e0400f.jpg"/>
          <p:cNvPicPr>
            <a:picLocks noChangeAspect="1"/>
          </p:cNvPicPr>
          <p:nvPr/>
        </p:nvPicPr>
        <p:blipFill>
          <a:blip r:embed="rId2"/>
          <a:srcRect t="427" b="427"/>
          <a:stretch>
            <a:fillRect/>
          </a:stretch>
        </p:blipFill>
        <p:spPr>
          <a:xfrm>
            <a:off x="8046720" y="1463040"/>
            <a:ext cx="3566160" cy="2651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46720" y="4251960"/>
            <a:ext cx="3566160" cy="10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“지식을 갖춘 디지털 동료”</a:t>
            </a:r>
          </a:p>
          <a:p>
            <a:pPr algn="l">
              <a:lnSpc>
                <a:spcPts val="1900"/>
              </a:lnSpc>
              <a:spcBef>
                <a:spcPts val="600"/>
              </a:spcBef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질문을 이해하고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(reason),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우리 문서에서 근거를 찾아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(reference),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자연스러운 문장으로 답합니다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(respond).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STEP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자연어 프롬프트로 에이전트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949440" cy="23317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chat-sparkle-128f22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47088"/>
            <a:ext cx="57607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50" b="1">
                <a:solidFill>
                  <a:srgbClr val="6EC6FF"/>
                </a:solidFill>
                <a:latin typeface="Segoe UI"/>
              </a:rPr>
              <a:t>Copilot</a:t>
            </a:r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에게 만들고 싶은 에이전트를 설명하세요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77440"/>
            <a:ext cx="6309360" cy="1325880"/>
          </a:xfrm>
          <a:prstGeom prst="roundRect">
            <a:avLst>
              <a:gd name="adj" fmla="val 6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42032"/>
            <a:ext cx="5852160" cy="900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050" b="1">
                <a:solidFill>
                  <a:srgbClr val="9CC4EE"/>
                </a:solidFill>
                <a:latin typeface="Segoe UI"/>
              </a:rPr>
              <a:t>프롬프트 예시</a:t>
            </a:r>
          </a:p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“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Contoso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직원들이 노트북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계정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소프트웨어 등 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문제를 해결하도록 돕는 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IT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헬프데스크 에이전트를 만들어줘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친절하고 간결한 톤으로 답하고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FFFFFF"/>
                </a:solidFill>
                <a:latin typeface="Segoe UI"/>
              </a:rPr>
              <a:t>해결이 어려우면 티켓 발행을 안내해줘</a:t>
            </a:r>
            <a:r>
              <a:rPr lang="en-US" altLang="ko-KR" sz="1200" b="0">
                <a:solidFill>
                  <a:srgbClr val="FFFFFF"/>
                </a:solidFill>
                <a:latin typeface="Segoe UI"/>
              </a:rPr>
              <a:t>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6949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Copilot</a:t>
            </a:r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이 자동으로 초안을 만들어 주는 항목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33832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2"/>
            <a:ext cx="29260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이름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Name)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82896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에이전트를 부르는 이름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480560"/>
            <a:ext cx="33832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4599432"/>
            <a:ext cx="29260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설명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Description)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882896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무슨 일을 하는지 요약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33832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468112"/>
            <a:ext cx="29260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지침 </a:t>
            </a: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0A3D6B"/>
                </a:solidFill>
                <a:latin typeface="Segoe UI"/>
              </a:rPr>
              <a:t>Instructions)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51576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행동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범위를 정의하는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349240"/>
            <a:ext cx="33832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5468112"/>
            <a:ext cx="29260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시작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751576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사용자가 처음 눌러볼 예시 질문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1554480"/>
            <a:ext cx="38862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1828800"/>
            <a:ext cx="3291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좋은 프롬프트의 조건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233172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0" y="2377439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340863"/>
            <a:ext cx="2834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F6CBD"/>
                </a:solidFill>
                <a:latin typeface="Segoe UI"/>
              </a:rPr>
              <a:t>대상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24327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누구를 돕는 에이전트인가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306323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3108959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072383"/>
            <a:ext cx="2834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F6CBD"/>
                </a:solidFill>
                <a:latin typeface="Segoe UI"/>
              </a:rPr>
              <a:t>범위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355847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어떤 주제까지 답하는가</a:t>
            </a:r>
          </a:p>
        </p:txBody>
      </p:sp>
      <p:sp>
        <p:nvSpPr>
          <p:cNvPr id="34" name="Oval 33"/>
          <p:cNvSpPr/>
          <p:nvPr/>
        </p:nvSpPr>
        <p:spPr>
          <a:xfrm>
            <a:off x="8046720" y="379476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0" y="384048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803904"/>
            <a:ext cx="2834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F6CBD"/>
                </a:solidFill>
                <a:latin typeface="Segoe UI"/>
              </a:rPr>
              <a:t>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087368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어떤 말투로 답하는가</a:t>
            </a:r>
          </a:p>
        </p:txBody>
      </p:sp>
      <p:sp>
        <p:nvSpPr>
          <p:cNvPr id="38" name="Oval 37"/>
          <p:cNvSpPr/>
          <p:nvPr/>
        </p:nvSpPr>
        <p:spPr>
          <a:xfrm>
            <a:off x="8046720" y="452628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457200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535424"/>
            <a:ext cx="2834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F6CBD"/>
                </a:solidFill>
                <a:latin typeface="Segoe UI"/>
              </a:rPr>
              <a:t>제한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18888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무엇은 답하지 않는가</a:t>
            </a:r>
          </a:p>
        </p:txBody>
      </p:sp>
      <p:sp>
        <p:nvSpPr>
          <p:cNvPr id="42" name="Oval 41"/>
          <p:cNvSpPr/>
          <p:nvPr/>
        </p:nvSpPr>
        <p:spPr>
          <a:xfrm>
            <a:off x="8046720" y="525780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0" y="530352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266944"/>
            <a:ext cx="2834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0F6CBD"/>
                </a:solidFill>
                <a:latin typeface="Segoe UI"/>
              </a:rPr>
              <a:t>에스컬레이션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550408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해결 못할 때 어떻게 하는가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STEP 6.2 · 6.3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지식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(Knowledge)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으로 그라운딩하기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에이전트가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우리 회사 이야기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를 하려면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우리 데이터에 연결되어야 합니다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3872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-document-folder-2bf5ac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286000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2834640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A3D6B"/>
                </a:solidFill>
                <a:latin typeface="Segoe UI"/>
              </a:rPr>
              <a:t>SharePoint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80"/>
            <a:ext cx="3017520" cy="63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내부 정책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매뉴얼 문서 라이브러리를 연결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권한을 그대로 존중해 사용자마다 볼 수 있는 문서만 인용됩니다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65960"/>
            <a:ext cx="353872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0248" y="196596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database-51fd0c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286000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4568" y="2834640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파일 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PDF·Word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같은 문서를 직접 업로드해 내부 지식 원본으로 사용합니다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965960"/>
            <a:ext cx="353872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91856" y="196596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globe-f42ef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286000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66176" y="2834640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공개 웹사이트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154680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제품 문서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Microsoft Learn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같은 공개 사이트를 지식으로 추가합니다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pic>
        <p:nvPicPr>
          <p:cNvPr id="22" name="Picture 21" descr="4e6a6a3ce27f4156.jpg"/>
          <p:cNvPicPr>
            <a:picLocks noChangeAspect="1"/>
          </p:cNvPicPr>
          <p:nvPr/>
        </p:nvPicPr>
        <p:blipFill>
          <a:blip r:embed="rId5"/>
          <a:srcRect t="22840" b="22840"/>
          <a:stretch>
            <a:fillRect/>
          </a:stretch>
        </p:blipFill>
        <p:spPr>
          <a:xfrm>
            <a:off x="548640" y="4114800"/>
            <a:ext cx="4937760" cy="20116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760720" y="41148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343400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75120" y="4325112"/>
            <a:ext cx="4572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그라운딩할 때 기억할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54880"/>
            <a:ext cx="4754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지식 원본이 없으면 에이전트는 일반 지식으로만 답합니다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84064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84064"/>
            <a:ext cx="4754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여러 원본을 함께 연결하면 답변 범위가 넓어집니다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13248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413248"/>
            <a:ext cx="4754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권한이 유지되므로 보안 걱정 없이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742432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742432"/>
            <a:ext cx="4754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답변에 인용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(citation)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 표시돼 근거를 확인할 수 있습니다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생성형 오케스트레이션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여러 원본을 동적으로 탐색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949440" cy="123444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6309360" cy="704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오케스트레이터는 질문을 읽고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어떤 지식 원본과 도구를 쓸지 스스로 결정합니다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.</a:t>
            </a:r>
          </a:p>
          <a:p>
            <a:pPr algn="l">
              <a:lnSpc>
                <a:spcPts val="19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사람이 모든 경로를 미리 그리지 않아도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여러 원본을 조합해 하나의 답을 만들어 냅니다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49039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질문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11480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사용자 의도와 필요한 정보를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3749039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1568" y="29718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8" y="32004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3749039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원본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411480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SharePoint·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파일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웹 중 적합한 곳을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49039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54496" y="29718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8816" y="32004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749039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검색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114800"/>
            <a:ext cx="2148840" cy="196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관련 구절을 찾아 근거로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3749039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971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07424" y="29718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81744" y="32004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3749039"/>
            <a:ext cx="2148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답변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4114800"/>
            <a:ext cx="2148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근거를 인용해 자연스러운 문장으로 응답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1554480"/>
            <a:ext cx="3886200" cy="123444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-arrow-sync-circle-409aba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83080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49640" y="1764792"/>
            <a:ext cx="283464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200" b="1">
                <a:solidFill>
                  <a:srgbClr val="6EC6FF"/>
                </a:solidFill>
                <a:latin typeface="Segoe UI"/>
              </a:rPr>
              <a:t>동적</a:t>
            </a:r>
            <a:r>
              <a:rPr lang="en-US" altLang="ko-KR" sz="1200" b="1">
                <a:solidFill>
                  <a:srgbClr val="6EC6FF"/>
                </a:solidFill>
                <a:latin typeface="Segoe UI"/>
              </a:rPr>
              <a:t>(dynamic)</a:t>
            </a:r>
            <a:r>
              <a:rPr lang="ko-KR" altLang="en-US" sz="1200" b="1">
                <a:solidFill>
                  <a:srgbClr val="6EC6FF"/>
                </a:solidFill>
                <a:latin typeface="Segoe UI"/>
              </a:rPr>
              <a:t>이라는 뜻</a:t>
            </a:r>
          </a:p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질문마다 사용하는 원본과 순서가 달라집니다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57800"/>
            <a:ext cx="402336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63040" y="5230368"/>
            <a:ext cx="9875520" cy="46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300" b="1">
                <a:solidFill>
                  <a:srgbClr val="4A2E86"/>
                </a:solidFill>
                <a:latin typeface="Segoe UI"/>
              </a:rPr>
              <a:t>테스트로 확인하세요 </a:t>
            </a:r>
            <a:r>
              <a:rPr lang="en-US" altLang="ko-KR" sz="1300" b="1">
                <a:solidFill>
                  <a:srgbClr val="4A2E86"/>
                </a:solidFill>
                <a:latin typeface="Segoe UI"/>
              </a:rPr>
              <a:t>(STEP 6.4)</a:t>
            </a:r>
          </a:p>
          <a:p>
            <a:pPr algn="l">
              <a:lnSpc>
                <a:spcPts val="1900"/>
              </a:lnSpc>
            </a:pP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· 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실제 우리 문서를 인용하는가   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· 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근거가 없을 때 지어내지 않는가   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· 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범위를 벗어난 질문을 정중히 거절하는가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06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커스텀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목적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지침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지식을 내가 직접 설계하는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자연어로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프롬프트 한 문단이면 이름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설명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지침 초안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프롬프트가 설계도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대상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범위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제한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에스컬레이션을 담아 작성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지식 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답변 품질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SharePoint·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파일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웹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URL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을 연결해 그라운딩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생성형 오케스트레이션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질문마다 필요한 원본을 스스로 선택해 조합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반드시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인용 여부와 범위 밖 질문 처리를 확인하고 게시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06 · IT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헬프데스크 커스텀 에이전트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자연어 프롬프트로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IT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헬프데스크 에이전트를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SharePoint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와 업로드 파일을 지식으로 연결한 뒤 테스트합니다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6.1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자연어 프롬프트로 에이전트 만들기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이름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설명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지침 확인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생성된 지침을 조직 규칙에 맞게 다듬기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6.2 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사이트를 내부 지식 원본으로 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6.3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정책 문서 파일을 업로드해 지식 원본으로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6.4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테스트 창에서 질문하고 인용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정확도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OPERATION AGENT FORGE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75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Copilot Studio · SharePoint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6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4A2E86"/>
                </a:solidFill>
                <a:latin typeface="Segoe UI"/>
              </a:rPr>
              <a:t>07 · </a:t>
            </a: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트리거와
노드로 토픽 만들기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0352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대화 흐름을 직접 설계하는 토픽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(Topic)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의 구조를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58368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트리거와 노드로
토픽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21792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에이전트의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'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의사결정 피질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'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을 배선한다
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—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의도 인식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·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대화 분기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·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변수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·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액션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4009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4009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60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27432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40096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STAY ON TOPIC</a:t>
            </a:r>
          </a:p>
        </p:txBody>
      </p:sp>
      <p:pic>
        <p:nvPicPr>
          <p:cNvPr id="13" name="Picture 12" descr="0d6cf863b02a46de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Neural Nexus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 오신 것을 환영합니다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41732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217920" cy="818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“듣고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배우고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답하는 에이전트를 만들었습니다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.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이제 특정 요청에 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정밀하게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'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응답하도록 가르칠 차례입니다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600"/>
              </a:spcBef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대화를 만드는 것이 아니라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에이전트의 의사결정 회로를 배선하는 작업입니다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85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토픽과 트리거로 에이전트가 할 수 있는 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33375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chat-bubbles-question-e88834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931920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3858768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의도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7952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사용자가 무엇을 원하는지 파악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3657600"/>
            <a:ext cx="33375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931920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92040" y="3858768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논리적 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187952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조건에 따라 대화 경로를 라우팅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33375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-braces-variable-65dd40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074920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5001768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변수 수집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30952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대화 중 값을 받아 보관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4800600"/>
            <a:ext cx="33375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wrench-aedf15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5074920"/>
            <a:ext cx="402336" cy="4023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92040" y="5001768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흐름 실행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액션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330952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외부 시스템 호출과 작업 수행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on-flowchart-d24e6a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46720" y="2560320"/>
            <a:ext cx="32918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학습 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3063240" cy="392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토픽이 무엇이며 어떻게 구조화된 대화를 만드는가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621024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621024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트리거와 대화 노드가 토픽을 구성하는 방식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224528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224528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Power Fx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로 노드에 동적 로직을 더하는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828031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828031"/>
            <a:ext cx="3063240" cy="392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특정 사용자 요청을 처리하는 사용자 지정 토픽 만들기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431536"/>
            <a:ext cx="274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431536"/>
            <a:ext cx="30632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토픽을 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데이터에 연결하는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토픽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(Topic)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이란 무엇인가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특정 질문이나 작업에 응답하도록 설계된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구조화된 대화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22376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토픽은 에이전트가 처리할 수 있는 하나의 미니 대화 또는 작업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(mini-conversation or task)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각 토픽은 하나의 사용자 요청에 대응하도록 설계됩니다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223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토픽의 세 가지 목적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7223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91440" cy="896112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3657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 err="1">
                <a:solidFill>
                  <a:srgbClr val="0A3D6B"/>
                </a:solidFill>
                <a:latin typeface="Segoe UI"/>
              </a:rPr>
              <a:t>정보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 </a:t>
            </a:r>
            <a:r>
              <a:rPr lang="ko-KR" altLang="en-US" sz="1350" b="1" err="1">
                <a:solidFill>
                  <a:srgbClr val="0A3D6B"/>
                </a:solidFill>
                <a:latin typeface="Segoe UI"/>
              </a:rPr>
              <a:t>제공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Informational)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46704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질문에 답하기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7"/>
            <a:ext cx="6583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 무엇인가요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?” · “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언제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되나요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?” · “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왜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인가요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7223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91440" cy="896112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3657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작업 완료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Task completion)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52544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사용자가 무언가를 하도록 돕기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7"/>
            <a:ext cx="6583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 err="1">
                <a:solidFill>
                  <a:srgbClr val="5A6270"/>
                </a:solidFill>
                <a:latin typeface="Segoe UI"/>
              </a:rPr>
              <a:t>하고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 </a:t>
            </a:r>
            <a:r>
              <a:rPr lang="ko-KR" altLang="en-US" sz="1150" b="0" err="1">
                <a:solidFill>
                  <a:srgbClr val="5A6270"/>
                </a:solidFill>
                <a:latin typeface="Segoe UI"/>
              </a:rPr>
              <a:t>싶어요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”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 b="0" err="1">
                <a:solidFill>
                  <a:srgbClr val="5A6270"/>
                </a:solidFill>
                <a:latin typeface="Segoe UI"/>
              </a:rPr>
              <a:t>어떻게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 err="1">
                <a:solidFill>
                  <a:srgbClr val="5A6270"/>
                </a:solidFill>
                <a:latin typeface="Segoe UI"/>
              </a:rPr>
              <a:t>하나요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?” · “…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 </a:t>
            </a:r>
            <a:r>
              <a:rPr lang="ko-KR" altLang="en-US" sz="1150" b="0" err="1">
                <a:solidFill>
                  <a:srgbClr val="5A6270"/>
                </a:solidFill>
                <a:latin typeface="Segoe UI"/>
              </a:rPr>
              <a:t>필요해요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7223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5212080"/>
            <a:ext cx="91440" cy="896112"/>
          </a:xfrm>
          <a:prstGeom prst="roundRect">
            <a:avLst>
              <a:gd name="adj" fmla="val 30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30952"/>
            <a:ext cx="3657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 err="1">
                <a:solidFill>
                  <a:srgbClr val="0A3D6B"/>
                </a:solidFill>
                <a:latin typeface="Segoe UI"/>
              </a:rPr>
              <a:t>문제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 </a:t>
            </a:r>
            <a:r>
              <a:rPr lang="ko-KR" altLang="en-US" sz="1350" b="1" err="1">
                <a:solidFill>
                  <a:srgbClr val="0A3D6B"/>
                </a:solidFill>
                <a:latin typeface="Segoe UI"/>
              </a:rPr>
              <a:t>해결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Troubleshooting)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358384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문제를 해결하기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87568"/>
            <a:ext cx="6583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 작동하지 않아요”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오류 메시지가 떠요”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이상한 게 보여요”</a:t>
            </a:r>
          </a:p>
        </p:txBody>
      </p:sp>
      <p:pic>
        <p:nvPicPr>
          <p:cNvPr id="24" name="Picture 23" descr="0d6cf863b02a46de.jpg"/>
          <p:cNvPicPr>
            <a:picLocks noChangeAspect="1"/>
          </p:cNvPicPr>
          <p:nvPr/>
        </p:nvPicPr>
        <p:blipFill>
          <a:blip r:embed="rId3"/>
          <a:srcRect t="427" b="427"/>
          <a:stretch>
            <a:fillRect/>
          </a:stretch>
        </p:blipFill>
        <p:spPr>
          <a:xfrm>
            <a:off x="8046720" y="1463040"/>
            <a:ext cx="3566160" cy="26517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046720" y="4297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526280"/>
            <a:ext cx="3017520" cy="975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토픽 </a:t>
            </a:r>
            <a:r>
              <a:rPr lang="en-US" altLang="ko-KR" sz="1300" b="1">
                <a:solidFill>
                  <a:srgbClr val="6EC6FF"/>
                </a:solidFill>
                <a:latin typeface="Segoe UI"/>
              </a:rPr>
              <a:t>vs </a:t>
            </a: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생성형 답변</a:t>
            </a:r>
          </a:p>
          <a:p>
            <a:pPr algn="l">
              <a:lnSpc>
                <a:spcPts val="1800"/>
              </a:lnSpc>
              <a:spcBef>
                <a:spcPts val="600"/>
              </a:spcBef>
            </a:pP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지식 기반 생성형 답변은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유연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하고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토픽은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정확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합니다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반드시 정해진 절차대로 처리해야 하는 요청은 토픽으로 설계합니다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토픽의 구조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트리거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+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대화 노드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47088"/>
            <a:ext cx="4297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트리거 </a:t>
            </a:r>
            <a:r>
              <a:rPr lang="en-US" altLang="ko-KR" sz="150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6EC6FF"/>
                </a:solidFill>
                <a:latin typeface="Segoe UI"/>
              </a:rPr>
              <a:t>Trigger)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46320" cy="900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토픽이 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언제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'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실행될지 결정합니다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클래식 오케스트레이션에서는 사용자가 특정 문구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(trigger phrase)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를 말할 때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생성형 오케스트레이션에서는 에이전트가 토픽의 이름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설명을 보고 스스로 선택할 때 실행됩니다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847088"/>
            <a:ext cx="4206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대화 노드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Conversation nodes)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5488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트리거 이후 대화가 흘러가는 단계들입니다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메시지를 보내고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질문하고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조건으로 분기하고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변수에 저장하고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도구를 호출하는 블록을 이어 붙여 흐름을 만듭니다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자주 쓰는 노드 유형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5445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463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에이전트가 사용자에게 문장을 보냄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44348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45445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8463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사용자에게 묻고 답을 변수에 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44348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45445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조건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8463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값에 따라 대화 경로를 분기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54589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변수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7607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값을 계산하거나 지정해 저장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53492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54589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도구 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액션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57607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커넥터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에이전트 플로우 호출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5349240"/>
            <a:ext cx="353872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545896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토픽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576072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다른 토픽으로 이동하거나 대화 종료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POWER FX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Power Fx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로 노드에 동적 로직 더하기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6400800" cy="704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Power Fx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는 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Excel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수식과 닮은 로우코드 수식 언어입니다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.</a:t>
            </a:r>
          </a:p>
          <a:p>
            <a:pPr algn="l">
              <a:lnSpc>
                <a:spcPts val="19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노드 안에서 값을 계산하고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조건을 판정하고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목록을 필터링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서식화해 대화를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고정된 시나리오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에서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데이터에 반응하는 대화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로 바꿉니다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33832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338328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braces-variable-65dd4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40156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3383279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변수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94176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입력값을 가공해 새 변수에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108960"/>
            <a:ext cx="33832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0" y="3108960"/>
            <a:ext cx="338328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401568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60" y="3383279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조건 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694176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IsBlank·If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로 분기 조건을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33832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338328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list-5681fb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36008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617720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목록 필터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정렬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28616"/>
            <a:ext cx="2377440" cy="36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가져온 데이터에서 필요한 항목만 추출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343400"/>
            <a:ext cx="33832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14800" y="4343400"/>
            <a:ext cx="338328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-info-b00237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636008"/>
            <a:ext cx="402336" cy="402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37760" y="4617720"/>
            <a:ext cx="23774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텍스트 서식화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928616"/>
            <a:ext cx="237744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답변 문장을 데이터로 조립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6949440" cy="7772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742432"/>
            <a:ext cx="640080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Power Fx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가 없으면 토픽은 정적인 안내문에 그칩니다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 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있으면 실제 데이터를 반영하는 살아있는 대화가 됩니다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1554480"/>
            <a:ext cx="3886200" cy="480060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-braces-variable-65dd4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6720" y="2450592"/>
            <a:ext cx="3291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변수</a:t>
            </a:r>
            <a:r>
              <a:rPr lang="en-US" altLang="ko-KR" sz="145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450" b="1">
                <a:solidFill>
                  <a:srgbClr val="6EC6FF"/>
                </a:solidFill>
                <a:latin typeface="Segoe UI"/>
              </a:rPr>
              <a:t>Variable)</a:t>
            </a:r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의 역할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9718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081528"/>
            <a:ext cx="2743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입력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FFFFFF"/>
                </a:solidFill>
                <a:latin typeface="Segoe UI"/>
              </a:rPr>
              <a:t>Input)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374136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트리거 시 토픽으로 전달되는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8404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3950208"/>
            <a:ext cx="2743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출력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FFFFFF"/>
                </a:solidFill>
                <a:latin typeface="Segoe UI"/>
              </a:rPr>
              <a:t>Output)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42816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토픽이 끝날 때 밖으로 넘기는 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7091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5320" y="4818888"/>
            <a:ext cx="2743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토픽 변수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111496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해당 토픽 안에서만 유효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5778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5687568"/>
            <a:ext cx="2743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전역 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980176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대화 전체에서 공유되는 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HOW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구축 흐름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7.1 → 7.3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1828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30175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새 토픽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16352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토픽을 만들고 이름을 정한 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트리거 문구 또는 설명으로 실행 조건을 정의합니다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51460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55448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0248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810512"/>
            <a:ext cx="1828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7.2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95728"/>
            <a:ext cx="30175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트리거 입력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출력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816352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토픽이 받을 입력 변수와 돌려줄 출력 변수를 지정해 다른 흐름과 값을 주고받습니다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51460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55448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91856" y="1554480"/>
            <a:ext cx="3538728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1810512"/>
            <a:ext cx="1828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C7DAF0"/>
                </a:solidFill>
                <a:latin typeface="Segoe UI"/>
              </a:rPr>
              <a:t>7.3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395728"/>
            <a:ext cx="30175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커넥터로 도구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816352"/>
            <a:ext cx="301752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커넥터를 도구로 연결하고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Power Fx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로 목록을 필터링해 응답에 사용합니다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594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실습 시나리오 </a:t>
            </a:r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· “</a:t>
            </a:r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사용 가능한 장비 알려줘”</a:t>
            </a:r>
          </a:p>
        </p:txBody>
      </p:sp>
      <p:pic>
        <p:nvPicPr>
          <p:cNvPr id="24" name="Picture 23" descr="92a30544822e4b6b.jpg"/>
          <p:cNvPicPr>
            <a:picLocks noChangeAspect="1"/>
          </p:cNvPicPr>
          <p:nvPr/>
        </p:nvPicPr>
        <p:blipFill>
          <a:blip r:embed="rId2"/>
          <a:srcRect t="15812" b="15812"/>
          <a:stretch>
            <a:fillRect/>
          </a:stretch>
        </p:blipFill>
        <p:spPr>
          <a:xfrm>
            <a:off x="548640" y="4434840"/>
            <a:ext cx="3566160" cy="18288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34340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4645152"/>
            <a:ext cx="219456" cy="21945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4672583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직원이 “어떤 장비를 쓸 수 있나요</a:t>
            </a:r>
            <a:r>
              <a:rPr lang="en-US" altLang="ko-KR" sz="1100" b="0">
                <a:solidFill>
                  <a:srgbClr val="1B1B1F"/>
                </a:solidFill>
                <a:latin typeface="Segoe UI"/>
              </a:rPr>
              <a:t>?”</a:t>
            </a: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라고 질문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5056632"/>
            <a:ext cx="219456" cy="21945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5084064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토픽이 트리거되어 </a:t>
            </a:r>
            <a:r>
              <a:rPr lang="en-US" altLang="ko-KR" sz="1100" b="0">
                <a:solidFill>
                  <a:srgbClr val="1B1B1F"/>
                </a:solidFill>
                <a:latin typeface="Segoe UI"/>
              </a:rPr>
              <a:t>SharePoint </a:t>
            </a: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장비 목록 조회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5468112"/>
            <a:ext cx="219456" cy="21945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5495544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5440680"/>
            <a:ext cx="274320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0">
                <a:solidFill>
                  <a:srgbClr val="1B1B1F"/>
                </a:solidFill>
                <a:latin typeface="Segoe UI"/>
              </a:rPr>
              <a:t>Power Fx</a:t>
            </a: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로 </a:t>
            </a:r>
            <a:r>
              <a:rPr lang="en-US" altLang="ko-KR" sz="1100" b="0">
                <a:solidFill>
                  <a:srgbClr val="1B1B1F"/>
                </a:solidFill>
                <a:latin typeface="Segoe UI"/>
              </a:rPr>
              <a:t>'</a:t>
            </a: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사용 가능</a:t>
            </a:r>
            <a:r>
              <a:rPr lang="en-US" altLang="ko-KR" sz="1100" b="0">
                <a:solidFill>
                  <a:srgbClr val="1B1B1F"/>
                </a:solidFill>
                <a:latin typeface="Segoe UI"/>
              </a:rPr>
              <a:t>' </a:t>
            </a: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상태만 필터링</a:t>
            </a:r>
          </a:p>
        </p:txBody>
      </p:sp>
      <p:sp>
        <p:nvSpPr>
          <p:cNvPr id="35" name="Oval 34"/>
          <p:cNvSpPr/>
          <p:nvPr/>
        </p:nvSpPr>
        <p:spPr>
          <a:xfrm>
            <a:off x="4617720" y="5879592"/>
            <a:ext cx="219456" cy="219456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5907024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852160"/>
            <a:ext cx="274320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1B1B1F"/>
                </a:solidFill>
                <a:latin typeface="Segoe UI"/>
              </a:rPr>
              <a:t>필터링된 장비 목록을 대화로 응답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434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on-wrench-aedf15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663440"/>
            <a:ext cx="402336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66760" y="5212080"/>
            <a:ext cx="2971800" cy="631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1">
                <a:solidFill>
                  <a:srgbClr val="6EC6FF"/>
                </a:solidFill>
                <a:latin typeface="Segoe UI"/>
              </a:rPr>
              <a:t>커넥터 </a:t>
            </a:r>
            <a:r>
              <a:rPr lang="en-US" altLang="ko-KR" sz="1250" b="1">
                <a:solidFill>
                  <a:srgbClr val="6EC6FF"/>
                </a:solidFill>
                <a:latin typeface="Segoe UI"/>
              </a:rPr>
              <a:t>= </a:t>
            </a:r>
            <a:r>
              <a:rPr lang="ko-KR" altLang="en-US" sz="1250" b="1">
                <a:solidFill>
                  <a:srgbClr val="6EC6FF"/>
                </a:solidFill>
                <a:latin typeface="Segoe UI"/>
              </a:rPr>
              <a:t>에이전트의 손</a:t>
            </a:r>
          </a:p>
          <a:p>
            <a:pPr algn="l">
              <a:lnSpc>
                <a:spcPts val="1700"/>
              </a:lnSpc>
            </a:pP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SharePoint </a:t>
            </a: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같은 외부 시스템의 실제 데이터를 대화 안으로 가져옵니다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07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토픽 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=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구조화된 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하나의 요청을 처리하는 미니 대화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작업 단위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세 가지 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정보 제공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작업 완료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문제 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트리거가 시작점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문구 매칭 또는 에이전트의 선택으로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노드로 흐름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메시지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질문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조건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변수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도구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토픽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Power Fx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로 동적 로직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계산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조건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필터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서식으로 데이터에 반응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커넥터로 데이터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목록을 조회해 실제 값으로 응답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07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장비 조회 토픽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새 토픽을 만들어 트리거와 노드를 구성하고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SharePoint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장비 목록을 조회해 사용 가능한 장비를 답하는 대화를 완성합니다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7.1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새 토픽 추가하고 트리거 문구 정의하기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7.2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트리거의 입력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출력 변수 정의하기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7.3 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커넥터를 도구로 추가하기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Power Fx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로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'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사용 가능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'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장비만 필터링하기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메시지 노드로 결과를 출력하고 테스트하기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OPERATION STAY ON TOPIC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100" b="1">
                <a:solidFill>
                  <a:srgbClr val="FFFFFF"/>
                </a:solidFill>
                <a:latin typeface="Segoe UI"/>
              </a:rPr>
              <a:t>60</a:t>
            </a:r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Copilot Studio · SharePoint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6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4A2E86"/>
                </a:solidFill>
                <a:latin typeface="Segoe UI"/>
              </a:rPr>
              <a:t>08 · </a:t>
            </a: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적응형 카드로
대화 강화하기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0352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Adaptive Card</a:t>
            </a: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로 토픽의 사용자 경험을 풍부하게 만드는 방법을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58368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적응형 카드로
대화 강화하기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21792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정적인 텍스트 대화를 풍부하고 실행 가능한
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Adaptive Card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경험으로 바꾸기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4009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4009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45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29260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40096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INTERFACE UPLIFT</a:t>
            </a:r>
          </a:p>
        </p:txBody>
      </p:sp>
      <p:pic>
        <p:nvPicPr>
          <p:cNvPr id="13" name="Picture 12" descr="1614444bd30e48f2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인터페이스를 업그레이드하라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6002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217920" cy="843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“정적인 상호작용을 풍부하고 실행 가능한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Adaptive Card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로 교체하라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800"/>
              </a:spcBef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JSON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페이로드와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Power Fx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수식을 사용해 입력을 수집하고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데이터를 보기 좋게 표현하고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대화를 원하는 방향으로 안내합니다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8862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Adaptive Card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가 무엇이며 에이전트 상호작용을 어떻게 향상시키는가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3434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JSON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과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Power Fx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가 동적인 카드 콘텐츠를 만드는 방식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8006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Adaptive Card Designer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사용 방법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2578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토픽 안에서 사용자 입력을 수집하는 방법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7150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6492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반응형이며 접근성 있는 카드를 설계하는 방법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card-ui-5387f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560320"/>
            <a:ext cx="3291840" cy="53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텍스트만으로는
부족한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329184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이름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이메일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피드백을 텍스트로만 주고받으면 대화가 지루하고 따라가기 어렵습니다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카드는 깔끔한 폼과 버튼으로 이를 해결합니다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26280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4681728"/>
            <a:ext cx="2743200" cy="63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00" b="1">
                <a:solidFill>
                  <a:srgbClr val="6EC6FF"/>
                </a:solidFill>
                <a:latin typeface="Segoe UI"/>
              </a:rPr>
              <a:t>카드가 하는 일</a:t>
            </a:r>
          </a:p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버튼 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폼 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이미지를 보여주고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사용자의 입력을 구조화된 값으로 받아옵니다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A3D6B"/>
                </a:solidFill>
                <a:latin typeface="Segoe UI"/>
              </a:rPr>
              <a:t>Adaptive Card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 무엇인가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레이아웃과 콘텐츠를 정의하는 구조화된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JSON 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객체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22376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Microsoft Teams, Outlook,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에이전트 같은 앱에 삽입할 수 있는 상호작용형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시각적으로 풍부한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UI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요소를 만드는 방법입니다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7223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image-30e18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35808"/>
            <a:ext cx="4206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2953512"/>
            <a:ext cx="5943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무엇이 보이는가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39"/>
            <a:ext cx="5943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텍스트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이미지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버튼 등 카드에 나타나는 요소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79"/>
            <a:ext cx="7223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840479"/>
            <a:ext cx="91440" cy="91440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paint-brush-d6dc17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87367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4005071"/>
            <a:ext cx="5943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어떻게 배열되는가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43399"/>
            <a:ext cx="5943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열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행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컨테이너로 구성되는 레이아웃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7223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cursor-click-1faf56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38927"/>
            <a:ext cx="420624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5056631"/>
            <a:ext cx="5943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무엇을 할 수 있는가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94959"/>
            <a:ext cx="5943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폼 제출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링크 열기 같은 사용자 액션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7223760" cy="4572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66751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카드 하나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= JSON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하나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같은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JSON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이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Teams·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웹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·Outlook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에서 각 환경에 맞게 렌더링됩니다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pic>
        <p:nvPicPr>
          <p:cNvPr id="25" name="Picture 24" descr="1614444bd30e48f2.jpg"/>
          <p:cNvPicPr>
            <a:picLocks noChangeAspect="1"/>
          </p:cNvPicPr>
          <p:nvPr/>
        </p:nvPicPr>
        <p:blipFill>
          <a:blip r:embed="rId5"/>
          <a:srcRect t="427" b="427"/>
          <a:stretch>
            <a:fillRect/>
          </a:stretch>
        </p:blipFill>
        <p:spPr>
          <a:xfrm>
            <a:off x="8046720" y="1463040"/>
            <a:ext cx="3566160" cy="26517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46720" y="4297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526280"/>
            <a:ext cx="3017520" cy="975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왜 </a:t>
            </a:r>
            <a:r>
              <a:rPr lang="en-US" altLang="ko-KR" sz="1300" b="1">
                <a:solidFill>
                  <a:srgbClr val="6EC6FF"/>
                </a:solidFill>
                <a:latin typeface="Segoe UI"/>
              </a:rPr>
              <a:t>Copilot Studio</a:t>
            </a: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에서 중요한가</a:t>
            </a:r>
          </a:p>
          <a:p>
            <a:pPr algn="l">
              <a:lnSpc>
                <a:spcPts val="1800"/>
              </a:lnSpc>
              <a:spcBef>
                <a:spcPts val="600"/>
              </a:spcBef>
            </a:pP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메시지를 텍스트로 던지는 대신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버튼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폼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이미지를 보여줘 대화를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상호작용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으로 바꿉니다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JSON + POWER FX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동적인 카드 만들기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JSON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과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Power Fx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code-965cc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47088"/>
            <a:ext cx="4297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6EC6FF"/>
                </a:solidFill>
                <a:latin typeface="Segoe UI"/>
              </a:rPr>
              <a:t>JSON = </a:t>
            </a:r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카드의 설계도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어떤 요소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(TextBlock, Image, Input, Action)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를 어떤 순서와 배치로 보여줄지 선언합니다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고정된 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JSON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만 쓰면 언제나 똑같은 카드가 나옵니다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847088"/>
            <a:ext cx="4206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Power Fx =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카드의 생명력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JSON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안의 값을 변수와 수식으로 채워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조회한 데이터에 따라 내용이 달라지는 동적 카드를 만듭니다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카드를 구성하는 주요 요소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37997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TextBlock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9087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제목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본문 텍스트를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425196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437997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69087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이미지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아이콘을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425196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437997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Input.Text / Input.ChoiceSet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69087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사용자 입력을 받는 폼 요소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8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534009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Action.Submit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65099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입력값을 에이전트로 제출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521208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534009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Action.OpenUrl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565099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링크를 새 창으로 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5212080"/>
            <a:ext cx="353872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5340096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>
                <a:solidFill>
                  <a:srgbClr val="0A3D6B"/>
                </a:solidFill>
                <a:latin typeface="Segoe UI"/>
              </a:rPr>
              <a:t>Container / ColumnSet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5650992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요소를 묶고 열로 배치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A3D6B"/>
                </a:solidFill>
                <a:latin typeface="Segoe UI"/>
              </a:rPr>
              <a:t>Adaptive Card Designer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와 입력 수집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paint-brush-d6dc17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47088"/>
            <a:ext cx="4297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>
                <a:solidFill>
                  <a:srgbClr val="0A3D6B"/>
                </a:solidFill>
                <a:latin typeface="Segoe UI"/>
              </a:rPr>
              <a:t>Adaptive Card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코드를 직접 쓰지 않고도 요소를 끌어다 배치하며 카드를 시각적으로 만들 수 있는 도구입니다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만든 결과는 곧바로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JSON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으로 확인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수정할 수 있어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디자이너와 코드를 오가며 작업합니다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form-new-f27f70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847088"/>
            <a:ext cx="4206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토픽 안에서 입력 수집하기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77440"/>
            <a:ext cx="4572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질문 노드 대신 카드로 폼 전체를 한 번에 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15768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715768"/>
            <a:ext cx="4572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입력값은 변수에 저장되어 이후 노드에서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54096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54096"/>
            <a:ext cx="4572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선택지를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ChoiceSet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으로 제공해 오타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오답 방지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92424"/>
            <a:ext cx="274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8B5CF6"/>
                </a:solidFill>
                <a:latin typeface="Segoe U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92424"/>
            <a:ext cx="4572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Action.Submit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 눌리면 대화가 다음 단계로 진행</a:t>
            </a:r>
          </a:p>
        </p:txBody>
      </p:sp>
      <p:pic>
        <p:nvPicPr>
          <p:cNvPr id="21" name="Picture 20" descr="a0a650e2c7a44a73.jpg"/>
          <p:cNvPicPr>
            <a:picLocks noChangeAspect="1"/>
          </p:cNvPicPr>
          <p:nvPr/>
        </p:nvPicPr>
        <p:blipFill>
          <a:blip r:embed="rId4"/>
          <a:srcRect t="21605" b="21605"/>
          <a:stretch>
            <a:fillRect/>
          </a:stretch>
        </p:blipFill>
        <p:spPr>
          <a:xfrm>
            <a:off x="548640" y="4023360"/>
            <a:ext cx="4937760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60720" y="4023360"/>
            <a:ext cx="5852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설계 모범 사례 </a:t>
            </a:r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· </a:t>
            </a:r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반응형과 접근성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434840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-accessibility-20c9a4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517136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46520" y="4489703"/>
            <a:ext cx="1097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접근성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07992"/>
            <a:ext cx="3886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의미 있는 대체 텍스트</a:t>
            </a:r>
            <a:r>
              <a:rPr lang="en-US" altLang="ko-KR" sz="10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충분한 명도 대비</a:t>
            </a:r>
            <a:r>
              <a:rPr lang="en-US" altLang="ko-KR" sz="10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색만으로 정보를 전달하지 않기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5029200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-card-ui-5387fb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5111496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46520" y="5084064"/>
            <a:ext cx="1097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반응형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102352"/>
            <a:ext cx="3886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채널</a:t>
            </a:r>
            <a:r>
              <a:rPr lang="en-US" altLang="ko-KR" sz="10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화면 폭에 따라 요소가 접히도록 열 구성을 단순하게 유지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5623559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-cursor-click-1faf5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705855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46520" y="5678423"/>
            <a:ext cx="1097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0A3D6B"/>
                </a:solidFill>
                <a:latin typeface="Segoe UI"/>
              </a:rPr>
              <a:t>명확한 액션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696712"/>
            <a:ext cx="3886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버튼 문구는 동사로 짧고 분명하게</a:t>
            </a:r>
            <a:r>
              <a:rPr lang="en-US" altLang="ko-KR" sz="10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000" b="0">
                <a:solidFill>
                  <a:srgbClr val="5A6270"/>
                </a:solidFill>
                <a:latin typeface="Segoe UI"/>
              </a:rPr>
              <a:t>액션 수는 최소한으로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08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>
                <a:solidFill>
                  <a:srgbClr val="0A3D6B"/>
                </a:solidFill>
                <a:latin typeface="Segoe UI"/>
              </a:rPr>
              <a:t>Adaptive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레이아웃과 콘텐츠를 정의하는 구조화된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JSON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객체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대화를 상호작용으로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텍스트 대신 버튼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폼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이미지로 안내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>
                <a:solidFill>
                  <a:srgbClr val="0A3D6B"/>
                </a:solidFill>
                <a:latin typeface="Segoe UI"/>
              </a:rPr>
              <a:t>JSON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이 설계도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요소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배치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액션을 선언적으로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>
                <a:solidFill>
                  <a:srgbClr val="0A3D6B"/>
                </a:solidFill>
                <a:latin typeface="Segoe UI"/>
              </a:rPr>
              <a:t>Power Fx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가 동적성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변수와 수식으로 데이터에 따라 내용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>
                <a:solidFill>
                  <a:srgbClr val="0A3D6B"/>
                </a:solidFill>
                <a:latin typeface="Segoe UI"/>
              </a:rPr>
              <a:t>Designer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시각적으로 만들고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JSON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으로 세밀하게 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반응형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접근성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대비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대체 텍스트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단순한 열 구성을 지키기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08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토픽에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Adaptive Card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추가하기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데이터와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Power Fx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사용해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Adaptive Card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토픽 안에서 사용자 입력을 수집하는 대화를 완성합니다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토픽에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Adaptive Card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노드 추가하기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 b="0">
                <a:solidFill>
                  <a:srgbClr val="1B1B1F"/>
                </a:solidFill>
                <a:latin typeface="Segoe UI"/>
              </a:rPr>
              <a:t>Adaptive Card Designer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로 카드 레이아웃 구성하기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JSON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편집으로 요소와 액션 세밀하게 조정하기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Power Fx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로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데이터를 카드에 바인딩하기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입력값을 변수로 받아 후속 노드에서 사용하고 테스트하기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OPERATION INTERFACE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050" b="1">
                <a:solidFill>
                  <a:srgbClr val="FFFFFF"/>
                </a:solidFill>
                <a:latin typeface="Segoe UI"/>
              </a:rPr>
              <a:t>45</a:t>
            </a: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Copilot Studio · SharePoint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6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4A2E86"/>
                </a:solidFill>
                <a:latin typeface="Segoe UI"/>
              </a:rPr>
              <a:t>09 · </a:t>
            </a: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토픽에
에이전트 플로우 추가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0352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자동화를 위해 에이전트 플로우를 토픽에 연결하는 방법을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69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583680" cy="1288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토픽에 에이전트
플로우 추가하기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217920" cy="62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대화에서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'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행동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'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으로 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—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장비 요청 자동화를
에이전트 플로우로 엔드투엔드 구현하기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40096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4009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CC4EE"/>
                </a:solidFill>
                <a:latin typeface="Segoe UI"/>
              </a:rPr>
              <a:t>30</a:t>
            </a:r>
            <a:r>
              <a:rPr lang="ko-KR" altLang="en-US" sz="1100" b="1">
                <a:solidFill>
                  <a:srgbClr val="9CC4EE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3200400" cy="402336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40096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CC4EE"/>
                </a:solidFill>
                <a:latin typeface="Segoe UI"/>
              </a:rPr>
              <a:t>OPERATION AUTOMATION POWERHOUSE</a:t>
            </a:r>
          </a:p>
        </p:txBody>
      </p:sp>
      <p:pic>
        <p:nvPicPr>
          <p:cNvPr id="13" name="Picture 12" descr="032a5006b54f4944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이제는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행동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 필요하다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7373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6217920" cy="1100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“에이전트가 대화하고 정보를 제공할 수 있게 됐습니다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다음 요구사항은 행동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(action)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입니다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2000"/>
              </a:lnSpc>
              <a:spcBef>
                <a:spcPts val="800"/>
              </a:spcBef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Adaptive Card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로 입력을 받고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SharePoint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에서 데이터를 조회하고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관리자에게 이메일을 보내고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사용자에게 결과를 알리는 엔드투엔드 장비 요청 자동화를 완성합니다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02335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649224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플로우란 무엇이고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Power Automate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클라우드 플로우와 어떻게 다른가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57199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79"/>
            <a:ext cx="649224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플로우가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AI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액션과 자연어 작성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(natural-language authoring)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을 지원하는 방식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12064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649224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플로우 디자이너와 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(expressions)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사용 방법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669279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59"/>
            <a:ext cx="649224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SharePoint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와 이메일로 장비 요청을 자동화하는 방법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-flow-dc290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0" y="2560320"/>
            <a:ext cx="32918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Segoe UI"/>
              </a:rPr>
              <a:t>대화 → 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63240"/>
            <a:ext cx="329184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플로우가 없으면 에이전트는 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안내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'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까지만 할 수 있습니다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9CC4EE"/>
                </a:solidFill>
                <a:latin typeface="Segoe UI"/>
              </a:rPr>
              <a:t>플로우가 있으면 실제 업무를 대신 처리합니다</a:t>
            </a:r>
            <a:r>
              <a:rPr lang="en-US" altLang="ko-KR" sz="1200" b="0">
                <a:solidFill>
                  <a:srgbClr val="9CC4EE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69080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4142232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알림 보내기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398264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이메일</a:t>
            </a:r>
            <a:r>
              <a:rPr lang="en-US" altLang="ko-KR" sz="1050" b="0">
                <a:solidFill>
                  <a:srgbClr val="9CC4EE"/>
                </a:solidFill>
                <a:latin typeface="Segoe UI"/>
              </a:rPr>
              <a:t>·Teams </a:t>
            </a:r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메시지 발송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727448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80060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레코드 업데이트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056632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>
                <a:solidFill>
                  <a:srgbClr val="9CC4EE"/>
                </a:solidFill>
                <a:latin typeface="Segoe UI"/>
              </a:rPr>
              <a:t>SharePoint·Dataverse </a:t>
            </a:r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기록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385816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5458968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이벤트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715000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CC4EE"/>
                </a:solidFill>
                <a:latin typeface="Segoe UI"/>
              </a:rPr>
              <a:t>조건에 따라 후속 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 플로우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(Agent Flow)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에이전트가 실행하는 구조화된 단계별 워크플로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223760" cy="48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반복 작업을 자동화하고 앱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서비스를 연결하는 강력한 방법입니다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알림 전송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레코드 업데이트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이벤트 대응 같은 일을 처리하는 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미니 워크플로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라고 생각하면 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24528" y="2743200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Segoe UI"/>
              </a:rPr>
              <a:t>Power Automate </a:t>
            </a:r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클라우드 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862072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에이전트 플로우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24528" y="3310128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270"/>
                </a:solidFill>
                <a:latin typeface="Segoe UI"/>
              </a:rPr>
              <a:t>일정</a:t>
            </a:r>
            <a:r>
              <a:rPr lang="en-US" altLang="ko-KR" sz="1100" b="1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1">
                <a:solidFill>
                  <a:srgbClr val="5A6270"/>
                </a:solidFill>
                <a:latin typeface="Segoe UI"/>
              </a:rPr>
              <a:t>이벤트로 스스로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429000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에이전트가 대화 중 호출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24528" y="3877056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270"/>
                </a:solidFill>
                <a:latin typeface="Segoe UI"/>
              </a:rPr>
              <a:t>주로 백그라운드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99592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대화에 값을 즉시 돌려줌 </a:t>
            </a:r>
            <a:r>
              <a:rPr lang="en-US" altLang="ko-KR" sz="1100" b="1">
                <a:solidFill>
                  <a:srgbClr val="0A3D6B"/>
                </a:solidFill>
                <a:latin typeface="Segoe UI"/>
              </a:rPr>
              <a:t>(</a:t>
            </a:r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실시간</a:t>
            </a:r>
            <a:r>
              <a:rPr lang="en-US" altLang="ko-KR" sz="1100" b="1">
                <a:solidFill>
                  <a:srgbClr val="0A3D6B"/>
                </a:solidFill>
                <a:latin typeface="Segoe UI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24528" y="4443983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62855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270"/>
                </a:solidFill>
                <a:latin typeface="Segoe UI"/>
              </a:rPr>
              <a:t>비동기 실행도 일반적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562855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비동기 응답은 꺼야 하며 </a:t>
            </a:r>
            <a:r>
              <a:rPr lang="en-US" altLang="ko-KR" sz="1100" b="1">
                <a:solidFill>
                  <a:srgbClr val="0A3D6B"/>
                </a:solidFill>
                <a:latin typeface="Segoe UI"/>
              </a:rPr>
              <a:t>100</a:t>
            </a:r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초 안에 응답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3520440" cy="50292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24528" y="5010912"/>
            <a:ext cx="3529584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29784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A6270"/>
                </a:solidFill>
                <a:latin typeface="Segoe UI"/>
              </a:rPr>
              <a:t>독립적으로 동작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5129784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도구</a:t>
            </a:r>
            <a:r>
              <a:rPr lang="en-US" altLang="ko-KR" sz="1100" b="1">
                <a:solidFill>
                  <a:srgbClr val="0A3D6B"/>
                </a:solidFill>
                <a:latin typeface="Segoe UI"/>
              </a:rPr>
              <a:t>(tool)</a:t>
            </a:r>
            <a:r>
              <a:rPr lang="ko-KR" altLang="en-US" sz="1100" b="1">
                <a:solidFill>
                  <a:srgbClr val="0A3D6B"/>
                </a:solidFill>
                <a:latin typeface="Segoe UI"/>
              </a:rPr>
              <a:t>로 등록되어 에이전트가 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7223760" cy="68580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도구로 등록하려면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— '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에이전트가 플로우를 호출할 때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'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트리거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+ '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에이전트에 응답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'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액션 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+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게시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(published) </a:t>
            </a:r>
            <a:r>
              <a:rPr lang="ko-KR" altLang="en-US" sz="1150" b="1">
                <a:solidFill>
                  <a:srgbClr val="4A2E86"/>
                </a:solidFill>
                <a:latin typeface="Segoe UI"/>
              </a:rPr>
              <a:t>상태가 필요합니다</a:t>
            </a:r>
            <a:r>
              <a:rPr lang="en-US" altLang="ko-KR" sz="115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pic>
        <p:nvPicPr>
          <p:cNvPr id="30" name="Picture 29" descr="032a5006b54f4944.jpg"/>
          <p:cNvPicPr>
            <a:picLocks noChangeAspect="1"/>
          </p:cNvPicPr>
          <p:nvPr/>
        </p:nvPicPr>
        <p:blipFill>
          <a:blip r:embed="rId2"/>
          <a:srcRect t="427" b="427"/>
          <a:stretch>
            <a:fillRect/>
          </a:stretch>
        </p:blipFill>
        <p:spPr>
          <a:xfrm>
            <a:off x="8046720" y="1463040"/>
            <a:ext cx="3566160" cy="26517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046720" y="42976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526280"/>
            <a:ext cx="3017520" cy="1052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등록 위치는 두 가지</a:t>
            </a:r>
          </a:p>
          <a:p>
            <a:pPr algn="l">
              <a:lnSpc>
                <a:spcPts val="1800"/>
              </a:lnSpc>
              <a:spcBef>
                <a:spcPts val="600"/>
              </a:spcBef>
            </a:pP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에이전트 수준 도구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—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오케스트레이터가 직접 호출
토픽 수준 도구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—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특정 토픽 안에서만 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AUTHORING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플로우 만들기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자연어와 디자이너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bot-sparkle-8327ae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47088"/>
            <a:ext cx="4297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자연어로 작성하기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“장비 요청이 들어오면 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SharePoint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에 기록하고 관리자에게 이메일을 보내줘” 처럼 하고 싶은 일을 문장으로 쓰면 플로우 초안이 생성됩니다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D6E4F5"/>
                </a:solidFill>
                <a:latin typeface="Segoe UI"/>
              </a:rPr>
              <a:t>코드를 쓰지 않고 시작할 수 있습니다</a:t>
            </a:r>
            <a:r>
              <a:rPr lang="en-US" altLang="ko-KR" sz="12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arrow-routing-2cf1db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847088"/>
            <a:ext cx="4206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에이전트 플로우 디자이너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75488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트리거와 액션을 순서대로 배치하고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각 단계의 입력값을 이전 단계의 출력이나 식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(expression)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으로 채웁니다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조건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반복 같은 제어 흐름도 넣을 수 있습니다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플로우의 구성 요소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-flow-dc2901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4572000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59" y="5074920"/>
            <a:ext cx="2148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트리거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394960"/>
            <a:ext cx="214884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에이전트가 플로우를 호출할 때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502920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43434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401568" y="43434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-database-plug-connected-db4fd2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4572000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75888" y="5074920"/>
            <a:ext cx="2148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커넥터 액션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5394960"/>
            <a:ext cx="214884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10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조회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기록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, </a:t>
            </a:r>
            <a:r>
              <a:rPr lang="en-US" sz="1100" b="0">
                <a:solidFill>
                  <a:srgbClr val="5A6270"/>
                </a:solidFill>
                <a:latin typeface="Segoe UI"/>
              </a:rPr>
              <a:t>Outlook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메일 발송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43434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54496" y="43434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572000"/>
            <a:ext cx="402336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28816" y="5074920"/>
            <a:ext cx="2148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식 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00" b="1">
                <a:solidFill>
                  <a:srgbClr val="0A3D6B"/>
                </a:solidFill>
                <a:latin typeface="Segoe UI"/>
              </a:rPr>
              <a:t>Expressions)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5394960"/>
            <a:ext cx="2148840" cy="18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값을 가공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판정해 다음 단계에 전달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502920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07424" y="43434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07424" y="43434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-arrow-routing-2cf1db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4" y="4572000"/>
            <a:ext cx="402336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81744" y="5074920"/>
            <a:ext cx="21488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에이전트에 응답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5394960"/>
            <a:ext cx="2148840" cy="18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결과 값을 대화로 되돌려 보냄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엔드투엔드 장비 요청 자동화</a:t>
            </a:r>
          </a:p>
        </p:txBody>
      </p:sp>
      <p:pic>
        <p:nvPicPr>
          <p:cNvPr id="6" name="Picture 5" descr="902b1e7ab3e545c6.jpg"/>
          <p:cNvPicPr>
            <a:picLocks noChangeAspect="1"/>
          </p:cNvPicPr>
          <p:nvPr/>
        </p:nvPicPr>
        <p:blipFill>
          <a:blip r:embed="rId2"/>
          <a:srcRect t="7971" b="7971"/>
          <a:stretch>
            <a:fillRect/>
          </a:stretch>
        </p:blipFill>
        <p:spPr>
          <a:xfrm>
            <a:off x="548640" y="1508760"/>
            <a:ext cx="420624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0" y="1508760"/>
            <a:ext cx="6675120" cy="26517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n-mail-adf25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783080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1801368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에이전트가 오케스트레이션하는 전체 흐름</a:t>
            </a:r>
          </a:p>
        </p:txBody>
      </p:sp>
      <p:sp>
        <p:nvSpPr>
          <p:cNvPr id="10" name="Oval 9"/>
          <p:cNvSpPr/>
          <p:nvPr/>
        </p:nvSpPr>
        <p:spPr>
          <a:xfrm>
            <a:off x="5285232" y="2404872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2423160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669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Adaptive Card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로 사용자의 장비 요청 입력을 수집</a:t>
            </a:r>
          </a:p>
        </p:txBody>
      </p:sp>
      <p:sp>
        <p:nvSpPr>
          <p:cNvPr id="13" name="Oval 12"/>
          <p:cNvSpPr/>
          <p:nvPr/>
        </p:nvSpPr>
        <p:spPr>
          <a:xfrm>
            <a:off x="5285232" y="2743200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2761488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15768"/>
            <a:ext cx="5669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입력값을 에이전트 플로우로 전달</a:t>
            </a:r>
          </a:p>
        </p:txBody>
      </p:sp>
      <p:sp>
        <p:nvSpPr>
          <p:cNvPr id="16" name="Oval 15"/>
          <p:cNvSpPr/>
          <p:nvPr/>
        </p:nvSpPr>
        <p:spPr>
          <a:xfrm>
            <a:off x="5285232" y="3081527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85232" y="3099815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54096"/>
            <a:ext cx="5669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SharePoint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에서 장비 데이터를 조회</a:t>
            </a:r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기록</a:t>
            </a:r>
          </a:p>
        </p:txBody>
      </p:sp>
      <p:sp>
        <p:nvSpPr>
          <p:cNvPr id="19" name="Oval 18"/>
          <p:cNvSpPr/>
          <p:nvPr/>
        </p:nvSpPr>
        <p:spPr>
          <a:xfrm>
            <a:off x="5285232" y="3419856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2" y="3438144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92424"/>
            <a:ext cx="5669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FFFFFF"/>
                </a:solidFill>
                <a:latin typeface="Segoe UI"/>
              </a:rPr>
              <a:t>Outlook</a:t>
            </a:r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으로 관리자에게 승인 요청 이메일 발송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2" y="3758184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85232" y="3776472"/>
            <a:ext cx="2194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30752"/>
            <a:ext cx="5669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FFFFFF"/>
                </a:solidFill>
                <a:latin typeface="Segoe UI"/>
              </a:rPr>
              <a:t>처리 결과를 대화로 돌려주어 사용자에게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구축 흐름 </a:t>
            </a:r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· 9.1 → 9.4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50292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9.1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559552"/>
            <a:ext cx="219456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에이전트 플로우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53492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48006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401568" y="48006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75888" y="50292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9.2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5888" y="5559552"/>
            <a:ext cx="219456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토픽에 플로우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3492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4496" y="48006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48006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28816" y="50292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9.3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5559552"/>
            <a:ext cx="219456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장비 요청 토픽 업데이트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5349240"/>
            <a:ext cx="274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C7DAF0"/>
                </a:solidFill>
                <a:latin typeface="Segoe UI"/>
              </a:rP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07424" y="48006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07424" y="4800600"/>
            <a:ext cx="2651760" cy="82296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81744" y="5029200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C7DAF0"/>
                </a:solidFill>
                <a:latin typeface="Segoe UI"/>
              </a:rPr>
              <a:t>9.4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5559552"/>
            <a:ext cx="2194560" cy="199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250" b="1">
                <a:solidFill>
                  <a:srgbClr val="0A3D6B"/>
                </a:solidFill>
                <a:latin typeface="Segoe UI"/>
              </a:rPr>
              <a:t>3</a:t>
            </a:r>
            <a:r>
              <a:rPr lang="ko-KR" altLang="en-US" sz="1250" b="1">
                <a:solidFill>
                  <a:srgbClr val="0A3D6B"/>
                </a:solidFill>
                <a:latin typeface="Segoe UI"/>
              </a:rPr>
              <a:t>가지 시나리오 테스트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09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에이전트 플로우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에이전트가 실행하는 단계별 미니 워크플로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클라우드 플로우와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대화 중 호출되어 실시간으로 값을 반환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도구로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전용 트리거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+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응답 액션 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+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게시 상태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자연어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하고 싶은 일을 문장으로 쓰면 초안이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커넥터로 실제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207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기록</a:t>
            </a:r>
            <a:r>
              <a:rPr lang="en-US" altLang="ko-KR" sz="1200" b="0">
                <a:solidFill>
                  <a:srgbClr val="5A6270"/>
                </a:solidFill>
                <a:latin typeface="Segoe UI"/>
              </a:rPr>
              <a:t>, </a:t>
            </a:r>
            <a:r>
              <a:rPr lang="en-US" sz="1200" b="0">
                <a:solidFill>
                  <a:srgbClr val="5A6270"/>
                </a:solidFill>
                <a:latin typeface="Segoe UI"/>
              </a:rPr>
              <a:t>Outlook </a:t>
            </a: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이메일 발송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69080"/>
            <a:ext cx="1371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입력에서 응답까지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5A6270"/>
                </a:solidFill>
                <a:latin typeface="Segoe UI"/>
              </a:rPr>
              <a:t>카드 입력 → 플로우 처리 → 대화로 결과 반환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09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장비 요청 자동화 플로우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Adaptive Card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입력을 받아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SharePoint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를 조회하고 관리자에게 이메일을 보내는 에이전트 플로우를 만들어 토픽에 연결합니다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9.1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플로우 만들기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트리거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액션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응답 구성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조회와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Outlook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메일 발송 액션 추가하기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15384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9.2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토픽에 에이전트 플로우를 도구로 추가하기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914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91456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9.3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장비 요청 토픽을 업데이트해 입력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출력 연결하기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6752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377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5669280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9.4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세 가지 시나리오로 엔드투엔드 테스트하기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4028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240280"/>
            <a:ext cx="2468880" cy="152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sz="950" b="1">
                <a:solidFill>
                  <a:srgbClr val="FFFFFF"/>
                </a:solidFill>
                <a:latin typeface="Segoe UI"/>
              </a:rPr>
              <a:t>OPERATION AUTOMATION POWERHOUSE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0604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06040"/>
            <a:ext cx="2468880" cy="152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lang="ko-KR" altLang="en-US" sz="9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950" b="1">
                <a:solidFill>
                  <a:srgbClr val="FFFFFF"/>
                </a:solidFill>
                <a:latin typeface="Segoe UI"/>
              </a:rPr>
              <a:t>30</a:t>
            </a:r>
            <a:r>
              <a:rPr lang="ko-KR" altLang="en-US" sz="9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468880" cy="31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sz="950" b="1">
                <a:solidFill>
                  <a:srgbClr val="FFFFFF"/>
                </a:solidFill>
                <a:latin typeface="Segoe UI"/>
              </a:rPr>
              <a:t>Copilot Studio · Power Automate · Outlook · SharePoint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1005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9CC4EE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337560"/>
            <a:ext cx="2468880" cy="152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sz="9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26280"/>
            <a:ext cx="3383280" cy="56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미션 </a:t>
            </a:r>
            <a:r>
              <a:rPr lang="en-US" altLang="ko-KR" sz="1600" b="1">
                <a:solidFill>
                  <a:srgbClr val="4A2E86"/>
                </a:solidFill>
                <a:latin typeface="Segoe UI"/>
              </a:rPr>
              <a:t>10 · </a:t>
            </a:r>
            <a:r>
              <a:rPr lang="ko-KR" altLang="en-US" sz="1600" b="1">
                <a:solidFill>
                  <a:srgbClr val="4A2E86"/>
                </a:solidFill>
                <a:latin typeface="Segoe UI"/>
              </a:rPr>
              <a:t>이벤트
트리거 추가하기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03520"/>
            <a:ext cx="33832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6B5AA0"/>
                </a:solidFill>
                <a:latin typeface="Segoe UI"/>
              </a:rPr>
              <a:t>이벤트에 반응해 스스로 움직이는 에이전트를 만드는 방법을 배웁니다</a:t>
            </a:r>
            <a:r>
              <a:rPr lang="en-US" altLang="ko-KR" sz="1200" b="0">
                <a:solidFill>
                  <a:srgbClr val="6B5AA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400800" cy="1365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이벤트 트리거로</a:t>
            </a:r>
          </a:p>
          <a:p>
            <a:pPr algn="l">
              <a:lnSpc>
                <a:spcPts val="5200"/>
              </a:lnSpc>
              <a:spcBef>
                <a:spcPts val="600"/>
              </a:spcBef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자율 에이전트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400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사용자가 말을 걸지 않아도 외부 시스템의 이벤트에 반응해 스스로 행동하는 에이전트를 만듭니다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67528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6752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EC4EA"/>
                </a:solidFill>
                <a:latin typeface="Segoe UI"/>
              </a:rPr>
              <a:t>45</a:t>
            </a:r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67528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EC4EA"/>
                </a:solidFill>
                <a:latin typeface="Segoe UI"/>
              </a:rPr>
              <a:t>OPERATION GHOST ROUTINE</a:t>
            </a:r>
          </a:p>
        </p:txBody>
      </p:sp>
      <p:pic>
        <p:nvPicPr>
          <p:cNvPr id="13" name="Picture 12" descr="98eed1de2dec4497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기다리지 않는 에이전트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766560" cy="1600200"/>
          </a:xfrm>
          <a:prstGeom prst="roundRect">
            <a:avLst>
              <a:gd name="adj" fmla="val 6000"/>
            </a:avLst>
          </a:prstGeom>
          <a:solidFill>
            <a:srgbClr val="F7F9FE"/>
          </a:solidFill>
          <a:ln w="17780">
            <a:solidFill>
              <a:srgbClr val="D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035040" cy="808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“대화형 어시스턴트에서 자율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(autonomous)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에이전트로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1900"/>
              </a:lnSpc>
              <a:spcBef>
                <a:spcPts val="800"/>
              </a:spcBef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SharePoint·Teams·Outlook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같은 외부 시스템을 감시하다가 신호가 오는 즉시 지능적으로 행동합니다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조용하고 빠르게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늘 지켜보는 현장 요원이 되는 것입니다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39319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이벤트 트리거가 자율 동작을 가능하게 하는 원리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43891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이벤트 트리거와 토픽 트리거의 차이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48463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이벤트 트리거가 어울리는 시나리오 판별하기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인증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보안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게시가 이벤트 기반 에이전트에 미치는 영향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57607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150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이벤트에 이메일 확인 회신으로 응답하기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00200"/>
            <a:ext cx="3977639" cy="4480560"/>
          </a:xfrm>
          <a:prstGeom prst="roundRect">
            <a:avLst>
              <a:gd name="adj" fmla="val 5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eye-dc71a2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6596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69748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항상 지켜보는 에이전트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154680" cy="66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토픽 트리거는 사용자가 말을 걸어야 시작합니다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 </a:t>
            </a: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이벤트 트리거는 시스템에서 일이 생기는 순간 에이전트가 먼저 움직입니다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60520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23367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새 항목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43983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SharePoint 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목록에 티켓 등록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782312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855464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즉시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65775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지시문에 따라 행동 결정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404104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477256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자동 응답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687568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확인 메일 자동 발송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이벤트 트리거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Event Trigger)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사용자 입력 없이 외부 이벤트에 반응하는 장치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67512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에이전트가 특정 이벤트를 ‘지켜보게’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그 일이 발생하면 자동으로 행동하게 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연결된 시스템에서 벌어지는 사건이 곧 시작 신호입니다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24528" y="2743200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토픽 트리거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88036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이벤트 트리거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24528" y="3310128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사용자가 문구를 입력해야 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456432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시스템에서 이벤트가 발생하면 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24528" y="3877056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대화형 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사람이 주도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023360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자율형 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에이전트가 주도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24528" y="4443983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트리거 구문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(phrase)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으로 인식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590288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커넥터가 페이로드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(payload)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를 전달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24528" y="5010912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57216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일반 에이전트에서 사용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5157216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생성형 오케스트레이션 필수</a:t>
            </a:r>
          </a:p>
        </p:txBody>
      </p:sp>
      <p:pic>
        <p:nvPicPr>
          <p:cNvPr id="28" name="Picture 27" descr="94c7ee6f2cb14734.jpg"/>
          <p:cNvPicPr>
            <a:picLocks noChangeAspect="1"/>
          </p:cNvPicPr>
          <p:nvPr/>
        </p:nvPicPr>
        <p:blipFill>
          <a:blip r:embed="rId2"/>
          <a:srcRect t="6118" b="6118"/>
          <a:stretch>
            <a:fillRect/>
          </a:stretch>
        </p:blipFill>
        <p:spPr>
          <a:xfrm>
            <a:off x="8001000" y="1508760"/>
            <a:ext cx="3611880" cy="23774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01000" y="40690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1089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동작 원리 </a:t>
            </a:r>
            <a:r>
              <a:rPr lang="en-US" altLang="ko-KR" sz="1350" b="1">
                <a:solidFill>
                  <a:srgbClr val="6EC6FF"/>
                </a:solidFill>
                <a:latin typeface="Segoe UI"/>
              </a:rPr>
              <a:t>3</a:t>
            </a:r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709160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① 커넥터가 이벤트를 감지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93208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② 페이로드가 에이전트로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77256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③ 지시문에 따라 토픽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도구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트리거 추가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페이로드와 요건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947672"/>
            <a:ext cx="411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Segoe UI"/>
              </a:rPr>
              <a:t>트리거 추가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에이전트 개요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(Overview)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페이지 → 트리거 → 트리거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원하는 이벤트 선택 후 연결 인증 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작성자 계정으로만 인증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4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이벤트 매개변수와 페이로드 구성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필요 시 지시문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7016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응답에 사용할 토픽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도구와 호출 기준을 지시문에 명시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74519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1947672"/>
            <a:ext cx="39319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꼭 지켜야 할 요건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생성형 오케스트레이션이 켜져 있어야 사용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70632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트리거는 에이전트 작성자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(maker)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의 연결로 실행됨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72384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작성자가 접근 권한을 가진 시스템만 감시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74136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트리거를 켜면 과금 방식이 달라질 수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75888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트리거를 포함한 에이전트는 반드시 게시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(publish)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해야 동작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페이로드</a:t>
            </a:r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(Payload) — </a:t>
            </a:r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이벤트가 실어 보내는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-document-table-185814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4892040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59" y="536752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이벤트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641848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항목 제목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작성자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시간 등 변수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-bot-9b0ac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89204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44568" y="536752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기본 페이로드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5641848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트리거가 기본값을 제공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4892040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66176" y="5367528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사용자 지정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5641848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직접 내용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지시문 추가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79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티켓 접수 자동 확인 시나리오</a:t>
            </a:r>
          </a:p>
        </p:txBody>
      </p:sp>
      <p:pic>
        <p:nvPicPr>
          <p:cNvPr id="6" name="Picture 5" descr="94c7ee6f2cb14734.jpg"/>
          <p:cNvPicPr>
            <a:picLocks noChangeAspect="1"/>
          </p:cNvPicPr>
          <p:nvPr/>
        </p:nvPicPr>
        <p:blipFill>
          <a:blip r:embed="rId2"/>
          <a:srcRect t="5833" b="5833"/>
          <a:stretch>
            <a:fillRect/>
          </a:stretch>
        </p:blipFill>
        <p:spPr>
          <a:xfrm>
            <a:off x="548640" y="1600200"/>
            <a:ext cx="3657600" cy="2423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80560" y="1600200"/>
            <a:ext cx="7132320" cy="24231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n-alert-f3b89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74519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1947672"/>
            <a:ext cx="5943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사람이 개입하지 않는 확인 회신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2532888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2560320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32888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SharePoint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티켓 목록에 새 항목이 등록됨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834640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8" y="2862072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834640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이벤트 트리거가 감지하고 페이로드를 에이전트에 전달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3136392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3163824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136392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에이전트가 지시문을 읽고 알맞은 도구를 선택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3438144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3465576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438144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요청자에게 접수 확인 이메일을 자동 발송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3739896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3767328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739896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사용자는 아무 대화도 시작하지 않았지만 값이 전달됨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구축 흐름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· 10.1 → 10.4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26243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2194560" cy="369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50" b="1">
                <a:solidFill>
                  <a:srgbClr val="1B1B1F"/>
                </a:solidFill>
                <a:latin typeface="Segoe UI"/>
              </a:rPr>
              <a:t>SharePoint </a:t>
            </a: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항목 이벤트 트리거 만들기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55848" y="4709160"/>
            <a:ext cx="26243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84448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5440680"/>
            <a:ext cx="2194560" cy="369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이벤트 트리거 편집</a:t>
            </a:r>
            <a:r>
              <a:rPr lang="en-US" altLang="ko-KR" sz="1150" b="1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페이로드 조정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5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63055" y="4709160"/>
            <a:ext cx="26243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5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5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확인 메일 발송 도구 만들기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0263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70263" y="4709160"/>
            <a:ext cx="26243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98863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3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이벤트 트리거 테스트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10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자율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사용자의 첫 마디를 기다리지 않고 이벤트에 먼저 반응합니다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토픽 트리거와의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구문 입력 대신 외부 시스템의 이벤트가 시작 신호입니다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생성형 오케스트레이션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이벤트 트리거는 생성형 오케스트레이션이 켜진 에이전트만 사용 가능합니다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페이로드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이벤트 정보를 담아 전달되며 지시문을 덧붙일 수 있습니다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인증과 보안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작성자 계정 연결로 동작하므로 권한 범위를 반드시 확인합니다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게시 필수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트리거는 게시된 에이전트에서만 실제로 동작합니다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10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이벤트 트리거 추가하기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SharePoint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티켓 목록을 감시하는 이벤트 트리거를 만들고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새 티켓이 등록되면 확인 이메일을 자동으로 보내는 자율 에이전트를 완성합니다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90672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10.1 SharePoint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항목 추가 이벤트 트리거 만들기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66744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연결 인증과 이벤트 매개변수 구성하기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153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61104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42816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10.2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트리거 편집 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페이로드와 지시문 다듬기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91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18888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10.3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확인 메일 발송 도구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(tool)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만들기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3675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413248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60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10.4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게시 후 이벤트 트리거 테스트하기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2918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286000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OPERATION GHOST ROUTINE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70048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670048"/>
            <a:ext cx="2377440" cy="1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050" b="1">
                <a:solidFill>
                  <a:srgbClr val="FFFFFF"/>
                </a:solidFill>
                <a:latin typeface="Segoe UI"/>
              </a:rPr>
              <a:t>45</a:t>
            </a: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054096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54096"/>
            <a:ext cx="2377440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Copilot Studio · Power Automate · Outlook · SharePoint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557015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557015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72000"/>
            <a:ext cx="3291840" cy="632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1700" b="1">
                <a:solidFill>
                  <a:srgbClr val="0A3D6B"/>
                </a:solidFill>
                <a:latin typeface="Segoe UI"/>
              </a:rPr>
              <a:t>11 · </a:t>
            </a: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에이전트</a:t>
            </a:r>
          </a:p>
          <a:p>
            <a:pPr algn="l">
              <a:lnSpc>
                <a:spcPts val="2600"/>
              </a:lnSpc>
            </a:pP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게시하기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40680"/>
            <a:ext cx="3291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만든 에이전트를 실제 사용자에게 배포하고 채널에 연결하는 방법을 배웁니다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400800" cy="1365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에이전트 게시하고</a:t>
            </a:r>
          </a:p>
          <a:p>
            <a:pPr algn="l">
              <a:lnSpc>
                <a:spcPts val="5200"/>
              </a:lnSpc>
              <a:spcBef>
                <a:spcPts val="600"/>
              </a:spcBef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사용자에게 배포하기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400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만든 에이전트를 게시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(publish)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하고 데모 웹사이트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·Teams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등 실제 채널에 연결해 사용자에게 전달합니다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67528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6752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EC4EA"/>
                </a:solidFill>
                <a:latin typeface="Segoe UI"/>
              </a:rPr>
              <a:t>30</a:t>
            </a:r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292608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67528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EC4EA"/>
                </a:solidFill>
                <a:latin typeface="Segoe UI"/>
              </a:rPr>
              <a:t>OPERATION GO LIVE</a:t>
            </a:r>
          </a:p>
        </p:txBody>
      </p:sp>
      <p:pic>
        <p:nvPicPr>
          <p:cNvPr id="13" name="Picture 12" descr="48b45c354efd4deb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이제 세상에 내보낼 시간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766560" cy="1600200"/>
          </a:xfrm>
          <a:prstGeom prst="roundRect">
            <a:avLst>
              <a:gd name="adj" fmla="val 6000"/>
            </a:avLst>
          </a:prstGeom>
          <a:solidFill>
            <a:srgbClr val="F7F9FE"/>
          </a:solidFill>
          <a:ln w="17780">
            <a:solidFill>
              <a:srgbClr val="D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035040" cy="808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“아무리 잘 만든 에이전트도 게시하지 않으면 아무도 쓸 수 없습니다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1900"/>
              </a:lnSpc>
              <a:spcBef>
                <a:spcPts val="800"/>
              </a:spcBef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테스트 창을 벗어나 실제 사용자가 있는 곳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(Teams,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웹사이트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Microsoft 365 Copilot)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으로 에이전트를 내보내는 마지막 관문입니다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39319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게시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(publish)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의 의미와 게시가 필요한 시점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43891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Copilot Studio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가 제공하는 채널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(channel)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의 종류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48463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데모 웹사이트와 라이브 웹사이트의 차이와 사용 목적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인증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(authentication)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설정이 접근 권한에 미치는 영향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57607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150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0">
                <a:solidFill>
                  <a:srgbClr val="1B1B1F"/>
                </a:solidFill>
                <a:latin typeface="Segoe UI"/>
              </a:rPr>
              <a:t>Teams·Microsoft 365 Copilot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 에이전트 연결하기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00200"/>
            <a:ext cx="3977639" cy="4480560"/>
          </a:xfrm>
          <a:prstGeom prst="roundRect">
            <a:avLst>
              <a:gd name="adj" fmla="val 5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rocket-325792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6596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69748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게시 </a:t>
            </a:r>
            <a:r>
              <a:rPr lang="en-US" altLang="ko-KR" sz="1600" b="1">
                <a:solidFill>
                  <a:srgbClr val="FFFFFF"/>
                </a:solidFill>
                <a:latin typeface="Segoe UI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배포의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1546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게시하면 연결된 모든 채널의 에이전트가 한 번에 최신 버전으로 갱신됩니다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60520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23367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만들기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43983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토픽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지식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도구 구성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782312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855464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게시하기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65775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최신 내용을 채널에 반영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404104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477256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연결하기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687568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채널을 추가해 사용자에게 전달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게시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(Publish)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란 무엇인가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최신 내용을 사용자에게 반영하는 행위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67512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에이전트를 수정한 뒤 게시하지 않으면 사용자는 예전 버전을 계속 보게 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게시는 연결된 모든 채널에 동시에 적용됩니다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24528" y="2743200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게시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88036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게시 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24528" y="3310128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테스트 창에서만 확인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456432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연결된 채널에서 사용자가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24528" y="3877056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변경 사항이 사용자에게 미반영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023360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모든 채널이 최신 버전으로 갱신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24528" y="4443983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채널 추가 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590288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최소 한 채널에 게시 후 채널 확장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24528" y="5010912"/>
            <a:ext cx="3529584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57216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이벤트 트리거 동작 안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5157216"/>
            <a:ext cx="3154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트리거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플로우가 실제로 실행됨</a:t>
            </a:r>
          </a:p>
        </p:txBody>
      </p:sp>
      <p:pic>
        <p:nvPicPr>
          <p:cNvPr id="28" name="Picture 27" descr="48b45c354efd4deb.jpg"/>
          <p:cNvPicPr>
            <a:picLocks noChangeAspect="1"/>
          </p:cNvPicPr>
          <p:nvPr/>
        </p:nvPicPr>
        <p:blipFill>
          <a:blip r:embed="rId2"/>
          <a:srcRect t="6118" b="6118"/>
          <a:stretch>
            <a:fillRect/>
          </a:stretch>
        </p:blipFill>
        <p:spPr>
          <a:xfrm>
            <a:off x="8001000" y="1508760"/>
            <a:ext cx="3611880" cy="23774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01000" y="40690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1089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기억할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709160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① 변경했다면 반드시 다시 게시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93208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② 게시는 모든 채널에 동시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77256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③ 게시 전에 테스트 창에서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어디에 배포할 것인가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채널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315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에이전트는 사용자가 이미 머무는 곳으로 찾아가야 합니다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03120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19" y="2148839"/>
            <a:ext cx="4297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데모 웹사이트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496312"/>
            <a:ext cx="4297680" cy="36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게시하면 자동 생성되는 테스트용 사이트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팀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이해관계자와 공유해 검증합니다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프로덕션 용도 아님 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—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고객에게 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URL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공유 금지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874519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9" y="2103120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5159" y="2148839"/>
            <a:ext cx="4297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라이브 웹사이트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96312"/>
            <a:ext cx="4297680" cy="176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준비가 끝나면 실제 웹사이트에 임베드해 고객에게 제공합니다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520439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17319" y="3566159"/>
            <a:ext cx="4297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A3D6B"/>
                </a:solidFill>
                <a:latin typeface="Segoe UI"/>
              </a:rPr>
              <a:t>Microsoft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913631"/>
            <a:ext cx="4297680" cy="36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조직 구성원이 채팅에서 바로 사용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표시 범위를 나에게만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특정 사용자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조직 전체로 설정합니다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3291839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phone-56037e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3520439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95159" y="3566159"/>
            <a:ext cx="4297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A3D6B"/>
                </a:solidFill>
                <a:latin typeface="Segoe UI"/>
              </a:rPr>
              <a:t>Microsoft 365 Copilot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913631"/>
            <a:ext cx="4297680" cy="36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M365 Copilot,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모바일 앱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메시징 플랫폼 등 다양한 채널로 확장할 수 있습니다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-shield-checkmark-939d85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5029200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인증</a:t>
            </a:r>
            <a:r>
              <a:rPr lang="en-US" altLang="ko-KR" sz="140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6EC6FF"/>
                </a:solidFill>
                <a:latin typeface="Segoe UI"/>
              </a:rPr>
              <a:t>Authentication) </a:t>
            </a:r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94960"/>
            <a:ext cx="4206240" cy="36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기본값은 ‘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Microsoft</a:t>
            </a: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로 인증’ 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— Teams·Power Apps·M365 Copilot</a:t>
            </a: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에서 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Entra ID </a:t>
            </a:r>
            <a:r>
              <a:rPr lang="ko-KR" altLang="en-US" sz="1100" b="0">
                <a:solidFill>
                  <a:srgbClr val="D6E4F5"/>
                </a:solidFill>
                <a:latin typeface="Segoe UI"/>
              </a:rPr>
              <a:t>인증이 자동 적용됩니다</a:t>
            </a:r>
            <a:r>
              <a:rPr lang="en-US" altLang="ko-KR" sz="110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98348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5120640"/>
            <a:ext cx="484632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‘인증 없음</a:t>
            </a:r>
            <a:r>
              <a:rPr lang="en-US" altLang="ko-KR" sz="1150" b="1">
                <a:solidFill>
                  <a:srgbClr val="FFFFFF"/>
                </a:solidFill>
                <a:latin typeface="Segoe UI"/>
              </a:rPr>
              <a:t>(No authentication)’</a:t>
            </a:r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을 선택하면</a:t>
            </a:r>
          </a:p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9EC4EA"/>
                </a:solidFill>
                <a:latin typeface="Segoe UI"/>
              </a:rPr>
              <a:t>링크를 가진 누구나 대화할 수 있습니다</a:t>
            </a:r>
            <a:r>
              <a:rPr lang="en-US" altLang="ko-KR" sz="1100" b="0">
                <a:solidFill>
                  <a:srgbClr val="9EC4EA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9EC4EA"/>
                </a:solidFill>
                <a:latin typeface="Segoe UI"/>
              </a:rPr>
              <a:t>데모 공유 시 주의하세요</a:t>
            </a:r>
            <a:r>
              <a:rPr lang="en-US" altLang="ko-KR" sz="1100" b="0">
                <a:solidFill>
                  <a:srgbClr val="9EC4EA"/>
                </a:solidFill>
                <a:latin typeface="Segoe U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데모 웹사이트로 첫 배포하기</a:t>
            </a:r>
          </a:p>
        </p:txBody>
      </p:sp>
      <p:pic>
        <p:nvPicPr>
          <p:cNvPr id="6" name="Picture 5" descr="834d9ceb51bc48a5.jpg"/>
          <p:cNvPicPr>
            <a:picLocks noChangeAspect="1"/>
          </p:cNvPicPr>
          <p:nvPr/>
        </p:nvPicPr>
        <p:blipFill>
          <a:blip r:embed="rId2"/>
          <a:srcRect t="5833" b="5833"/>
          <a:stretch>
            <a:fillRect/>
          </a:stretch>
        </p:blipFill>
        <p:spPr>
          <a:xfrm>
            <a:off x="548640" y="1600200"/>
            <a:ext cx="3657600" cy="2423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80560" y="1600200"/>
            <a:ext cx="7132320" cy="242316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n-share-f15c6f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74519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1947672"/>
            <a:ext cx="5943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게시부터 공유까지의 흐름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2532888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2560320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32888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에이전트를 저장하고 게시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(Publish)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를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834640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8" y="2862072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834640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설정 → 보안 → 인증에서 접근 방식을 결정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3136392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3163824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136392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채널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(Channels)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에서 데모 웹사이트 선택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3438144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3465576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438144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환영 메시지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제안 질문을 테스트 목적에 맞게 수정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3739896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3767328"/>
            <a:ext cx="1828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739896"/>
            <a:ext cx="6035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링크를 동료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이해관계자에게 공유해 피드백 수집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구축 흐름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· 11.1 → 11.4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26243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에이전트 게시하기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55848" y="4709160"/>
            <a:ext cx="26243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84448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보안</a:t>
            </a:r>
            <a:r>
              <a:rPr lang="en-US" altLang="ko-KR" sz="1150" b="1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인증 설정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5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63055" y="4709160"/>
            <a:ext cx="26243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5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11.3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5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데모 웹사이트 사용자 지정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0263" y="47091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70263" y="4709160"/>
            <a:ext cx="26243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98863" y="4937760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B9C6DA"/>
                </a:solidFill>
                <a:latin typeface="Segoe UI"/>
              </a:rPr>
              <a:t>11.4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3" y="5440680"/>
            <a:ext cx="2194560" cy="177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50" b="1">
                <a:solidFill>
                  <a:srgbClr val="1B1B1F"/>
                </a:solidFill>
                <a:latin typeface="Segoe UI"/>
              </a:rPr>
              <a:t>채널 연결과 공유 테스트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11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게시는 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게시하지 않으면 사용자는 변경 사항을 볼 수 없습니다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모든 채널에 동시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한 번 게시하면 연결된 모든 채널이 최신 버전으로 갱신됩니다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데모 웹사이트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게시 시 자동 생성되는 테스트용 사이트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프로덕션 용도가 아닙니다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라이브 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웹사이트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·Teams·M365 Copilot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등 사용자가 있는 곳에 연결합니다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인증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기본은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Microsoft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인증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‘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인증 없음’은 링크를 가진 누구나 접근합니다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반복 게시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수정할 때마다 다시 게시하는 습관이 운영의 기본입니다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11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에이전트 게시하기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에이전트를 게시하고 보안 설정을 확인한 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데모 웹사이트를 사용자 지정해 동료와 공유하고 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Teams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채널까지 연결해 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90672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11.1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에이전트 저장 후 게시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(Publish)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실행하기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66744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11.2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설정 → 보안 → 인증에서 접근 방식 설정하기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153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61104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42816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11.3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데모 웹사이트 환영 메시지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제안 질문 수정하기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91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18888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데모 링크를 공유해 동료 피드백 받아보기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3675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413248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60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11.4 Teams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채널 연결 후 실제 대화로 테스트하기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2918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286000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OPERATION GO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70048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670048"/>
            <a:ext cx="2377440" cy="1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050" b="1">
                <a:solidFill>
                  <a:srgbClr val="FFFFFF"/>
                </a:solidFill>
                <a:latin typeface="Segoe UI"/>
              </a:rPr>
              <a:t>30</a:t>
            </a: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054096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54096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Copilot Studio · Microsoft Teams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38144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438144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8B5CF6"/>
                </a:solidFill>
                <a:latin typeface="Segoe UI"/>
              </a:rPr>
              <a:t>다음 미션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72000"/>
            <a:ext cx="3291840" cy="632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1700" b="1">
                <a:solidFill>
                  <a:srgbClr val="0A3D6B"/>
                </a:solidFill>
                <a:latin typeface="Segoe UI"/>
              </a:rPr>
              <a:t>12 · </a:t>
            </a: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분석과</a:t>
            </a:r>
          </a:p>
          <a:p>
            <a:pPr algn="l">
              <a:lnSpc>
                <a:spcPts val="2600"/>
              </a:lnSpc>
            </a:pP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운영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40680"/>
            <a:ext cx="3291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게시 후 사용 현황을 분석하고 에이전트를 개선하는 방법을 배웁니다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89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MISSION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6400800" cy="1365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라이선스와 비용을</a:t>
            </a:r>
          </a:p>
          <a:p>
            <a:pPr algn="l">
              <a:lnSpc>
                <a:spcPts val="5200"/>
              </a:lnSpc>
              <a:spcBef>
                <a:spcPts val="600"/>
              </a:spcBef>
            </a:pPr>
            <a:r>
              <a:rPr lang="ko-KR" altLang="en-US" sz="4200" b="1">
                <a:solidFill>
                  <a:srgbClr val="FFFFFF"/>
                </a:solidFill>
                <a:latin typeface="Segoe UI"/>
              </a:rPr>
              <a:t>이해하기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400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Copilot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크레딧이 무엇이고 어떻게 소비되는지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500" b="0">
                <a:solidFill>
                  <a:srgbClr val="C6D4E6"/>
                </a:solidFill>
                <a:latin typeface="Segoe UI"/>
              </a:rPr>
              <a:t>어떤 구매 방식이 우리 조직에 맞는지 이해합니다</a:t>
            </a:r>
            <a:r>
              <a:rPr lang="en-US" altLang="ko-KR" sz="15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367528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난이도 ★☆☆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2578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36752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소요 </a:t>
            </a:r>
            <a:r>
              <a:rPr lang="en-US" altLang="ko-KR" sz="1100" b="1">
                <a:solidFill>
                  <a:srgbClr val="9EC4EA"/>
                </a:solidFill>
                <a:latin typeface="Segoe UI"/>
              </a:rPr>
              <a:t>20</a:t>
            </a:r>
            <a:r>
              <a:rPr lang="ko-KR" altLang="en-US" sz="1100" b="1">
                <a:solidFill>
                  <a:srgbClr val="9EC4EA"/>
                </a:solidFill>
                <a:latin typeface="Segoe UI"/>
              </a:rPr>
              <a:t>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25780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367528"/>
            <a:ext cx="3566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9EC4EA"/>
                </a:solidFill>
                <a:latin typeface="Segoe UI"/>
              </a:rPr>
              <a:t>OPERATION COST CONTROL</a:t>
            </a:r>
          </a:p>
        </p:txBody>
      </p:sp>
      <p:pic>
        <p:nvPicPr>
          <p:cNvPr id="13" name="Picture 12" descr="8969d2a54728435d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46304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MISSION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브리핑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잘 만드는 것만큼 중요한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766560" cy="1600200"/>
          </a:xfrm>
          <a:prstGeom prst="roundRect">
            <a:avLst>
              <a:gd name="adj" fmla="val 6000"/>
            </a:avLst>
          </a:prstGeom>
          <a:solidFill>
            <a:srgbClr val="F7F9FE"/>
          </a:solidFill>
          <a:ln w="17780">
            <a:solidFill>
              <a:srgbClr val="D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035040" cy="808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“에이전트를 만들 줄 아는 사람에서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, </a:t>
            </a:r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운영할 줄 아는 사람으로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.”</a:t>
            </a:r>
          </a:p>
          <a:p>
            <a:pPr algn="l">
              <a:lnSpc>
                <a:spcPts val="1900"/>
              </a:lnSpc>
              <a:spcBef>
                <a:spcPts val="800"/>
              </a:spcBef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비용 구조를 모르면 잘 만든 에이전트도 조직에 확산되지 못합니다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크레딧이 어떻게 쓰이는지 알아야 설계 결정을 제대로 내릴 수 있습니다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목표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39319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Copilot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크레딧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(Copilot Credits)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이라는 소비 단위 이해하기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43891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세 가지 구매 방식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(M365 Copilot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포함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선불 팩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종량제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)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비교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48463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크레딧 소비량이 에이전트 설계에 따라 달라지는 이유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사용량을 확인하고 초과분을 관리하는 방법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576072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15000"/>
            <a:ext cx="60350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비용을 고려한 에이전트 설계 원칙 세우기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00200"/>
            <a:ext cx="3977639" cy="4480560"/>
          </a:xfrm>
          <a:prstGeom prst="roundRect">
            <a:avLst>
              <a:gd name="adj" fmla="val 5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-wallet-credit-card-4e9af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6596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0" y="269748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Segoe UI"/>
              </a:rPr>
              <a:t>비용은 설계의 일부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3154680" cy="438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ko-KR" altLang="en-US" sz="1200" b="0">
                <a:solidFill>
                  <a:srgbClr val="C6D4E6"/>
                </a:solidFill>
                <a:latin typeface="Segoe UI"/>
              </a:rPr>
              <a:t>같은 기능도 어떻게 설계하느냐에 따라 소비되는 크레딧이 크게 달라집니다</a:t>
            </a:r>
            <a:r>
              <a:rPr lang="en-US" altLang="ko-KR" sz="12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60520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23367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에이전트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43983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오케스트레이션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지식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도구 구성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782312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855464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사용 빈도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65775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대화량과 사용자 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404104"/>
            <a:ext cx="3154680" cy="530352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477256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Segoe UI"/>
              </a:rPr>
              <a:t>사용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687568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생성형 응답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트리거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플로우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A3D6B"/>
                </a:solidFill>
                <a:latin typeface="Segoe UI"/>
              </a:rPr>
              <a:t>Copilot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크레딧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3000" b="1">
                <a:solidFill>
                  <a:srgbClr val="0A3D6B"/>
                </a:solidFill>
                <a:latin typeface="Segoe UI"/>
              </a:rPr>
              <a:t>Copilot Credits)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이란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에이전트 사용량을 재는 하나의 공통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67512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메시지 수가 아니라 ‘크레딧’으로 사용량을 계산합니다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구매한 크레딧은 테넌트 전체에서 공유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(pool)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되어 사용됩니다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343400" cy="502920"/>
          </a:xfrm>
          <a:prstGeom prst="roundRect">
            <a:avLst>
              <a:gd name="adj" fmla="val 10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2743200"/>
            <a:ext cx="2724912" cy="502920"/>
          </a:xfrm>
          <a:prstGeom prst="roundRect">
            <a:avLst>
              <a:gd name="adj" fmla="val 1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무엇이 크레딧을 소비하나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880360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Segoe UI"/>
              </a:rPr>
              <a:t>비고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434340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0" y="3310128"/>
            <a:ext cx="2724912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사용자와 주고받는 대화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(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응답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456432"/>
            <a:ext cx="2423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기본 소비 단위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434340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0" y="3877056"/>
            <a:ext cx="2724912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생성형 답변과 오케스트레이션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023360"/>
            <a:ext cx="2423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일반 응답보다 소비량이 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434340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0" y="4443983"/>
            <a:ext cx="2724912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에이전트 플로우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도구 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590288"/>
            <a:ext cx="2423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연동 작업마다 소비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4343400" cy="5029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29200" y="5010912"/>
            <a:ext cx="2724912" cy="50292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157216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이벤트 트리거 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5157216"/>
            <a:ext cx="2423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자율 실행도 과금 대상</a:t>
            </a:r>
          </a:p>
        </p:txBody>
      </p:sp>
      <p:pic>
        <p:nvPicPr>
          <p:cNvPr id="28" name="Picture 27" descr="8969d2a54728435d.jpg"/>
          <p:cNvPicPr>
            <a:picLocks noChangeAspect="1"/>
          </p:cNvPicPr>
          <p:nvPr/>
        </p:nvPicPr>
        <p:blipFill>
          <a:blip r:embed="rId2"/>
          <a:srcRect t="6118" b="6118"/>
          <a:stretch>
            <a:fillRect/>
          </a:stretch>
        </p:blipFill>
        <p:spPr>
          <a:xfrm>
            <a:off x="8001000" y="1508760"/>
            <a:ext cx="3611880" cy="23774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01000" y="40690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1089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소비량을 좌우하는 </a:t>
            </a:r>
            <a:r>
              <a:rPr lang="en-US" altLang="ko-KR" sz="1350" b="1">
                <a:solidFill>
                  <a:srgbClr val="6EC6FF"/>
                </a:solidFill>
                <a:latin typeface="Segoe UI"/>
              </a:rPr>
              <a:t>3</a:t>
            </a:r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요소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709160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① 에이전트를 어떻게 설계했는가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93208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② 사용자가 얼마나 자주 쓰는가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77256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③ 어떤 기능을 켜 두었는가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세 가지 구매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315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>
                <a:solidFill>
                  <a:srgbClr val="5A6270"/>
                </a:solidFill>
                <a:latin typeface="Segoe UI"/>
              </a:rPr>
              <a:t>조직의 규모와 사용 패턴에 따라 알맞은 방식을 고릅니다</a:t>
            </a:r>
            <a:r>
              <a:rPr lang="en-US" altLang="ko-KR" sz="13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387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-wallet-credit-card-4a7fc8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283464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400" b="1">
                <a:solidFill>
                  <a:srgbClr val="0A3D6B"/>
                </a:solidFill>
                <a:latin typeface="Segoe UI"/>
              </a:rPr>
              <a:t>Microsoft 365 Copilot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포함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926080" cy="595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M365 Copilot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라이선스를 가진 사용자가 내부용 에이전트를 쓰는 경우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별도 크레딧 없이 사용할 수 있습니다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2024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1920240"/>
            <a:ext cx="35387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money-d850bf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240280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0288" y="283464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선불 용량 팩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Pre-purchase)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474720"/>
            <a:ext cx="2926080" cy="595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월 단위로 크레딧을 미리 구매해 테넌트 전체가 나눠 씁니다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사용량이 예측되는 조직에 적합합니다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920240"/>
            <a:ext cx="353872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91856" y="1920240"/>
            <a:ext cx="35387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calculator-4e747c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240280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11896" y="2834640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종량제 </a:t>
            </a:r>
            <a:r>
              <a:rPr lang="en-US" altLang="ko-KR" sz="14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400" b="1">
                <a:solidFill>
                  <a:srgbClr val="0A3D6B"/>
                </a:solidFill>
                <a:latin typeface="Segoe UI"/>
              </a:rPr>
              <a:t>Pay-as-you-go)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474720"/>
            <a:ext cx="292608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Azure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구독에 연결해 쓴 만큼만 지불합니다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초기 도입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변동이 큰 워크로드에 적합합니다</a:t>
            </a:r>
            <a:r>
              <a:rPr lang="en-US" altLang="ko-KR" sz="110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470916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6EC6FF"/>
                </a:solidFill>
                <a:latin typeface="Segoe UI"/>
              </a:rPr>
              <a:t>운영 시 함께 기억할 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120640"/>
            <a:ext cx="9692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선불 팩과 종량제를 함께 쓰면 초과분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(overage)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을 자동으로 처리할 수 있습니다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13248"/>
            <a:ext cx="9692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관리자는 크레딧 정책으로 조직의 사용 범위를 통제합니다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705855"/>
            <a:ext cx="9692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실제 요금과 조건은 최신 라이선스 가이드를 항상 확인해야 합니다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사용량 확인과 비용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chart-multiple-18a0b3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947672"/>
            <a:ext cx="411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Segoe UI"/>
              </a:rPr>
              <a:t>사용량은 이렇게 확인합니다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Copilot Studio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분석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(Analytics)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에서 크레딧 소비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Power Platform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관리 센터에서 테넌트 전체 용량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4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사용량 추정기</a:t>
            </a:r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(usage estimator)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로 도입 전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7016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D6E4F5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D6E4F5"/>
                </a:solidFill>
                <a:latin typeface="Segoe UI"/>
              </a:rPr>
              <a:t>초과 시 정책에 따라 제한 또는 종량제로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calculator-4e747c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74519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1947672"/>
            <a:ext cx="39319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비용을 아끼는 설계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단순 안내는 토픽으로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판단이 필요한 곳만 생성형으로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70632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지식 원본을 꼭 필요한 범위로 좁혀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72384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도구</a:t>
            </a:r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플로우 호출은 필요한 시점에만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74136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이벤트 트리거는 감시 범위를 구체적으로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75888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150" b="0">
                <a:solidFill>
                  <a:srgbClr val="1B1B1F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1B1B1F"/>
                </a:solidFill>
                <a:latin typeface="Segoe UI"/>
              </a:rPr>
              <a:t>파일럿으로 소비량을 측정한 뒤 확산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학습 흐름 </a:t>
            </a:r>
            <a:r>
              <a:rPr lang="en-US" altLang="ko-KR" sz="1400" b="1">
                <a:solidFill>
                  <a:srgbClr val="0F6CBD"/>
                </a:solidFill>
                <a:latin typeface="Segoe UI"/>
              </a:rPr>
              <a:t>· 12.1 → 12.3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35387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892040"/>
            <a:ext cx="30175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900" b="1">
                <a:solidFill>
                  <a:srgbClr val="B9C6DA"/>
                </a:solidFill>
                <a:latin typeface="Segoe UI"/>
              </a:rPr>
              <a:t>12.1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30352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크레딧 개념 이해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62356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무엇이 얼마나 소비되는지 파악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0248" y="4663440"/>
            <a:ext cx="3538728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4892040"/>
            <a:ext cx="30175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900" b="1">
                <a:solidFill>
                  <a:srgbClr val="B9C6DA"/>
                </a:solidFill>
                <a:latin typeface="Segoe UI"/>
              </a:rPr>
              <a:t>12.2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530352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구매 방식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62356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조직에 맞는 라이선스 선택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46634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91856" y="4663440"/>
            <a:ext cx="3538728" cy="82296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66176" y="4892040"/>
            <a:ext cx="30175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900" b="1">
                <a:solidFill>
                  <a:srgbClr val="B9C6DA"/>
                </a:solidFill>
                <a:latin typeface="Segoe UI"/>
              </a:rPr>
              <a:t>12.3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530352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사용량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5623560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0">
                <a:solidFill>
                  <a:srgbClr val="5A6270"/>
                </a:solidFill>
                <a:latin typeface="Segoe UI"/>
              </a:rPr>
              <a:t>분석으로 확인하고 최적화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미션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12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핵심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A3D6B"/>
                </a:solidFill>
                <a:latin typeface="Segoe UI"/>
              </a:rPr>
              <a:t>Copilot </a:t>
            </a:r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크레딧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에이전트 사용량을 재는 공통 단위이며 테넌트 전체가 공유합니다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세 가지 구매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M365 Copilot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포함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선불 용량 팩 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종량제 중에서 선택합니다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8562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6888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소비를 좌우하는 요소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86207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설계 방식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사용 빈도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켜 둔 기능이 크레딧 소비를 결정합니다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생성형은 비용이 크다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생성형 응답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오케스트레이션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트리거는 소비량이 더 큽니다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측정하고 관리하기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분석과 추정기로 확인하고 초과 정책을 미리 정합니다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40480"/>
            <a:ext cx="3538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6" y="409651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7091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A3D6B"/>
                </a:solidFill>
                <a:latin typeface="Segoe UI"/>
              </a:rPr>
              <a:t>비용을 고려한 설계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102352"/>
            <a:ext cx="292608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필요한 곳에만 고급 기능을 쓰는 것이 좋은 설계입니다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2344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>
                <a:solidFill>
                  <a:srgbClr val="8B5CF6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실습 </a:t>
            </a:r>
            <a:r>
              <a:rPr lang="en-US" altLang="ko-KR" sz="3000" b="1">
                <a:solidFill>
                  <a:srgbClr val="0A3D6B"/>
                </a:solidFill>
                <a:latin typeface="Segoe UI"/>
              </a:rPr>
              <a:t>12 · </a:t>
            </a:r>
            <a:r>
              <a:rPr lang="ko-KR" altLang="en-US" sz="3000" b="1">
                <a:solidFill>
                  <a:srgbClr val="0A3D6B"/>
                </a:solidFill>
                <a:latin typeface="Segoe UI"/>
              </a:rPr>
              <a:t>라이선스와 사용량 살펴보기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실습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6035040" cy="46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라이선스 가이드와 과금 기준을 확인하고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50" b="0">
                <a:solidFill>
                  <a:srgbClr val="5A6270"/>
                </a:solidFill>
                <a:latin typeface="Segoe UI"/>
              </a:rPr>
              <a:t>지금까지 만든 에이전트의 크레딧 소비를 분석 화면에서 살펴봅니다</a:t>
            </a:r>
            <a:r>
              <a:rPr lang="en-US" altLang="ko-KR" sz="12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90672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12.1 Copilot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크레딧 과금 기준표 살펴보기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66744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12.2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세 가지 구매 방식 비교하고 우리 조직에 맞는 안 고르기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2153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61104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42816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사용량 추정기로 예상 소비량 계산해 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91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18888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12.3 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분석</a:t>
            </a:r>
            <a:r>
              <a:rPr lang="en-US" altLang="ko-KR" sz="1250" b="0">
                <a:solidFill>
                  <a:srgbClr val="1B1B1F"/>
                </a:solidFill>
                <a:latin typeface="Segoe UI"/>
              </a:rPr>
              <a:t>(Analytics)</a:t>
            </a:r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에서 에이전트 사용량 확인하기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3675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413248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60"/>
            <a:ext cx="5486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0">
                <a:solidFill>
                  <a:srgbClr val="1B1B1F"/>
                </a:solidFill>
                <a:latin typeface="Segoe UI"/>
              </a:rPr>
              <a:t>비용 관점에서 내 에이전트 설계 점검하기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977639" cy="210312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32918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6EC6FF"/>
                </a:solidFill>
                <a:latin typeface="Segoe UI"/>
              </a:rPr>
              <a:t>실습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코드네임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286000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OPERATION COST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743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소요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743200"/>
            <a:ext cx="2377440" cy="1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약 </a:t>
            </a:r>
            <a:r>
              <a:rPr lang="en-US" altLang="ko-KR" sz="1050" b="1">
                <a:solidFill>
                  <a:srgbClr val="FFFFFF"/>
                </a:solidFill>
                <a:latin typeface="Segoe UI"/>
              </a:rPr>
              <a:t>20</a:t>
            </a: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2004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제품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00400"/>
            <a:ext cx="2377440" cy="1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Copilot Studio · </a:t>
            </a:r>
            <a:r>
              <a:rPr lang="ko-KR" altLang="en-US" sz="1050" b="1">
                <a:solidFill>
                  <a:srgbClr val="FFFFFF"/>
                </a:solidFill>
                <a:latin typeface="Segoe UI"/>
              </a:rPr>
              <a:t>관리 센터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6576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>
                <a:solidFill>
                  <a:srgbClr val="9EC4EA"/>
                </a:solidFill>
                <a:latin typeface="Segoe UI"/>
              </a:rPr>
              <a:t>환경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657600"/>
            <a:ext cx="2377440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</a:rPr>
              <a:t>classic experience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77639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4206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8B5CF6"/>
                </a:solidFill>
                <a:latin typeface="Segoe UI"/>
              </a:rPr>
              <a:t>과정의 마지막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72000"/>
            <a:ext cx="3291840" cy="632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altLang="ko-KR" sz="1700" b="1">
                <a:solidFill>
                  <a:srgbClr val="0A3D6B"/>
                </a:solidFill>
                <a:latin typeface="Segoe UI"/>
              </a:rPr>
              <a:t>Recruit </a:t>
            </a: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과정</a:t>
            </a:r>
          </a:p>
          <a:p>
            <a:pPr algn="l">
              <a:lnSpc>
                <a:spcPts val="2600"/>
              </a:lnSpc>
            </a:pPr>
            <a:r>
              <a:rPr lang="ko-KR" altLang="en-US" sz="1700" b="1">
                <a:solidFill>
                  <a:srgbClr val="0A3D6B"/>
                </a:solidFill>
                <a:latin typeface="Segoe UI"/>
              </a:rPr>
              <a:t>완주를 축하합니다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40680"/>
            <a:ext cx="3291840" cy="41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이제 직접 에이전트를 설계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배포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50" b="0">
                <a:solidFill>
                  <a:srgbClr val="5A6270"/>
                </a:solidFill>
                <a:latin typeface="Segoe UI"/>
              </a:rPr>
              <a:t>운영할 수 있습니다</a:t>
            </a:r>
            <a:r>
              <a:rPr lang="en-US" altLang="ko-KR" sz="1150" b="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>
                <a:solidFill>
                  <a:srgbClr val="9AA1AC"/>
                </a:solidFill>
                <a:latin typeface="Segoe UI"/>
              </a:rPr>
              <a:t>Copilot Studio Agent Academy · Recruit (Standard) · </a:t>
            </a:r>
            <a:r>
              <a:rPr lang="ko-KR" altLang="en-US" sz="1000" b="0">
                <a:solidFill>
                  <a:srgbClr val="9AA1AC"/>
                </a:solidFill>
                <a:latin typeface="Segoe UI"/>
              </a:rPr>
              <a:t>미션 </a:t>
            </a:r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914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 b="0">
                <a:solidFill>
                  <a:srgbClr val="9AA1AC"/>
                </a:solidFill>
                <a:latin typeface="Segoe UI"/>
              </a:rPr>
              <a:t>96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rgbClr val="6EC6FF"/>
                </a:solidFill>
                <a:latin typeface="Segoe UI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6400800" cy="13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altLang="ko-KR" sz="4000" b="1">
                <a:solidFill>
                  <a:srgbClr val="FFFFFF"/>
                </a:solidFill>
                <a:latin typeface="Segoe UI"/>
              </a:rPr>
              <a:t>Recruit · Standard</a:t>
            </a:r>
          </a:p>
          <a:p>
            <a:pPr algn="l">
              <a:lnSpc>
                <a:spcPts val="5000"/>
              </a:lnSpc>
              <a:spcBef>
                <a:spcPts val="600"/>
              </a:spcBef>
            </a:pPr>
            <a:r>
              <a:rPr lang="ko-KR" altLang="en-US" sz="4000" b="1">
                <a:solidFill>
                  <a:srgbClr val="FFFFFF"/>
                </a:solidFill>
                <a:latin typeface="Segoe UI"/>
              </a:rPr>
              <a:t>과정을 완주했습니다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6400800" cy="53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환경 준비부터 솔루션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커스텀 에이전트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토픽과 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Adaptive Card,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에이전트 플로우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이벤트 트리거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게시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,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라이선스까지 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— </a:t>
            </a:r>
            <a:r>
              <a:rPr lang="ko-KR" altLang="en-US" sz="1400" b="0">
                <a:solidFill>
                  <a:srgbClr val="C6D4E6"/>
                </a:solidFill>
                <a:latin typeface="Segoe UI"/>
              </a:rPr>
              <a:t>에이전트의 전체 수명 주기를 경험했습니다</a:t>
            </a:r>
            <a:r>
              <a:rPr lang="en-US" altLang="ko-KR" sz="1400" b="0">
                <a:solidFill>
                  <a:srgbClr val="C6D4E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920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400" b="1">
                <a:solidFill>
                  <a:srgbClr val="6EC6FF"/>
                </a:solidFill>
                <a:latin typeface="Segoe UI"/>
              </a:rPr>
              <a:t>00–03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환경과 기초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8920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5074920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400" b="1">
                <a:solidFill>
                  <a:srgbClr val="6EC6FF"/>
                </a:solidFill>
                <a:latin typeface="Segoe UI"/>
              </a:rPr>
              <a:t>04–06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39496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솔루션과 에이전트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8920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5074920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400" b="1">
                <a:solidFill>
                  <a:srgbClr val="6EC6FF"/>
                </a:solidFill>
                <a:latin typeface="Segoe UI"/>
              </a:rPr>
              <a:t>07–09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39496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토픽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카드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플로우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8920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5074920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400" b="1">
                <a:solidFill>
                  <a:srgbClr val="6EC6FF"/>
                </a:solidFill>
                <a:latin typeface="Segoe UI"/>
              </a:rPr>
              <a:t>10–12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5394960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자율화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배포</a:t>
            </a:r>
            <a:r>
              <a:rPr lang="en-US" altLang="ko-KR" sz="1000" b="0">
                <a:solidFill>
                  <a:srgbClr val="9EC4EA"/>
                </a:solidFill>
                <a:latin typeface="Segoe UI"/>
              </a:rPr>
              <a:t>·</a:t>
            </a:r>
            <a:r>
              <a:rPr lang="ko-KR" altLang="en-US" sz="1000" b="0">
                <a:solidFill>
                  <a:srgbClr val="9EC4EA"/>
                </a:solidFill>
                <a:latin typeface="Segoe UI"/>
              </a:rPr>
              <a:t>운영</a:t>
            </a:r>
          </a:p>
        </p:txBody>
      </p:sp>
      <p:pic>
        <p:nvPicPr>
          <p:cNvPr id="19" name="Picture 18" descr="e980d7f825694a09.jpg"/>
          <p:cNvPicPr>
            <a:picLocks noChangeAspect="1"/>
          </p:cNvPicPr>
          <p:nvPr/>
        </p:nvPicPr>
        <p:blipFill>
          <a:blip r:embed="rId2"/>
          <a:srcRect l="403" r="403"/>
          <a:stretch>
            <a:fillRect/>
          </a:stretch>
        </p:blipFill>
        <p:spPr>
          <a:xfrm>
            <a:off x="7863840" y="1737360"/>
            <a:ext cx="3749039" cy="283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Segoe UI"/>
        <a:cs typeface="Segoe UI"/>
        <a:font script="Jpan" typeface="游ゴシック Light"/>
        <a:font script="Hang" typeface="Segoe UI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Segoe UI"/>
        <a:cs typeface="Segoe UI"/>
        <a:font script="Jpan" typeface="游ゴシック"/>
        <a:font script="Hang" typeface="Segoe UI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Segoe UI"/>
        <a:cs typeface="Segoe UI"/>
        <a:font script="Jpan" typeface="游ゴシック Light"/>
        <a:font script="Hang" typeface="Segoe UI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Segoe UI"/>
        <a:cs typeface="Segoe UI"/>
        <a:font script="Jpan" typeface="游ゴシック"/>
        <a:font script="Hang" typeface="Segoe UI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11441</Words>
  <Application>Microsoft Office PowerPoint</Application>
  <PresentationFormat>와이드스크린</PresentationFormat>
  <Paragraphs>2065</Paragraphs>
  <Slides>107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09" baseType="lpstr"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 Wan Shin</dc:creator>
  <cp:lastModifiedBy>Jay</cp:lastModifiedBy>
  <cp:revision>1</cp:revision>
  <dcterms:created xsi:type="dcterms:W3CDTF">2026-08-23T02:33:14Z</dcterms:created>
  <dcterms:modified xsi:type="dcterms:W3CDTF">2026-08-23T12:48:20Z</dcterms:modified>
</cp:coreProperties>
</file>